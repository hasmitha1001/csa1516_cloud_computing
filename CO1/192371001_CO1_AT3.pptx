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4"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8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ECCDCAB-9FB3-C548-8BE3-D76B638F0015}" type="datetimeFigureOut">
              <a:rPr lang="en-US" smtClean="0"/>
              <a:t>7/23/2026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947636B-C757-0A48-93DD-3931E988D4CB}" type="slidenum">
              <a:rPr lang="en-US" smtClean="0"/>
              <a:t>‹#›</a:t>
            </a:fld>
            <a:endParaRPr lang="en-US"/>
          </a:p>
        </p:txBody>
      </p:sp>
    </p:spTree>
    <p:extLst>
      <p:ext uri="{BB962C8B-B14F-4D97-AF65-F5344CB8AC3E}">
        <p14:creationId xmlns:p14="http://schemas.microsoft.com/office/powerpoint/2010/main" val="1426757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4D0039-9429-DC73-D82B-72F96DA20574}"/>
              </a:ext>
            </a:extLst>
          </p:cNvPr>
          <p:cNvPicPr>
            <a:picLocks noChangeAspect="1"/>
          </p:cNvPicPr>
          <p:nvPr/>
        </p:nvPicPr>
        <p:blipFill>
          <a:blip r:embed="rId2"/>
          <a:stretch>
            <a:fillRect/>
          </a:stretch>
        </p:blipFill>
        <p:spPr>
          <a:xfrm>
            <a:off x="1026196" y="252898"/>
            <a:ext cx="9425233" cy="981541"/>
          </a:xfrm>
          <a:prstGeom prst="rect">
            <a:avLst/>
          </a:prstGeom>
        </p:spPr>
      </p:pic>
      <p:pic>
        <p:nvPicPr>
          <p:cNvPr id="3" name="Image 1" descr="/home/claude/assets/logo_seal.jpeg">
            <a:extLst>
              <a:ext uri="{FF2B5EF4-FFF2-40B4-BE49-F238E27FC236}">
                <a16:creationId xmlns:a16="http://schemas.microsoft.com/office/drawing/2014/main" id="{DEF9E8E6-0116-25F5-D74B-493C9FAAE00C}"/>
              </a:ext>
            </a:extLst>
          </p:cNvPr>
          <p:cNvPicPr>
            <a:picLocks noChangeAspect="1"/>
          </p:cNvPicPr>
          <p:nvPr/>
        </p:nvPicPr>
        <p:blipFill>
          <a:blip r:embed="rId3"/>
          <a:stretch>
            <a:fillRect/>
          </a:stretch>
        </p:blipFill>
        <p:spPr>
          <a:xfrm>
            <a:off x="10881360" y="286469"/>
            <a:ext cx="914400" cy="914400"/>
          </a:xfrm>
          <a:prstGeom prst="rect">
            <a:avLst/>
          </a:prstGeom>
        </p:spPr>
      </p:pic>
      <p:sp>
        <p:nvSpPr>
          <p:cNvPr id="5" name="TextBox 4">
            <a:extLst>
              <a:ext uri="{FF2B5EF4-FFF2-40B4-BE49-F238E27FC236}">
                <a16:creationId xmlns:a16="http://schemas.microsoft.com/office/drawing/2014/main" id="{5D700A92-E7A6-DB55-2C06-9076A2A6140D}"/>
              </a:ext>
            </a:extLst>
          </p:cNvPr>
          <p:cNvSpPr txBox="1"/>
          <p:nvPr/>
        </p:nvSpPr>
        <p:spPr>
          <a:xfrm>
            <a:off x="2393690" y="2003694"/>
            <a:ext cx="7404619" cy="515782"/>
          </a:xfrm>
          <a:prstGeom prst="rect">
            <a:avLst/>
          </a:prstGeom>
          <a:noFill/>
        </p:spPr>
        <p:txBody>
          <a:bodyPr wrap="square">
            <a:spAutoFit/>
          </a:bodyPr>
          <a:lstStyle/>
          <a:p>
            <a:pPr marL="0" indent="0" algn="ctr">
              <a:lnSpc>
                <a:spcPct val="105000"/>
              </a:lnSpc>
              <a:buNone/>
            </a:pPr>
            <a:r>
              <a:rPr lang="en-US" sz="2800" b="1" dirty="0">
                <a:solidFill>
                  <a:schemeClr val="tx1">
                    <a:lumMod val="95000"/>
                    <a:lumOff val="5000"/>
                  </a:schemeClr>
                </a:solidFill>
                <a:latin typeface="Times New Roman" panose="02020603050405020304" pitchFamily="18" charset="0"/>
                <a:ea typeface="Cambria" pitchFamily="34" charset="-122"/>
                <a:cs typeface="Times New Roman" panose="02020603050405020304" pitchFamily="18" charset="0"/>
              </a:rPr>
              <a:t>Understanding Cloud Storage Mechanisms</a:t>
            </a: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D138059-9E7F-055C-CAE5-1180F64366B0}"/>
              </a:ext>
            </a:extLst>
          </p:cNvPr>
          <p:cNvSpPr txBox="1"/>
          <p:nvPr/>
        </p:nvSpPr>
        <p:spPr>
          <a:xfrm>
            <a:off x="9085439" y="4666516"/>
            <a:ext cx="2731979" cy="1323439"/>
          </a:xfrm>
          <a:prstGeom prst="rect">
            <a:avLst/>
          </a:prstGeom>
          <a:noFill/>
        </p:spPr>
        <p:txBody>
          <a:bodyPr wrap="square" rtlCol="0">
            <a:spAutoFit/>
          </a:bodyPr>
          <a:lstStyle/>
          <a:p>
            <a:pPr algn="ctr"/>
            <a:r>
              <a:rPr lang="en-GB" sz="2000" b="1" dirty="0">
                <a:latin typeface="Times New Roman" panose="02020603050405020304" pitchFamily="18" charset="0"/>
                <a:cs typeface="Times New Roman" panose="02020603050405020304" pitchFamily="18" charset="0"/>
              </a:rPr>
              <a:t>Presented By</a:t>
            </a:r>
            <a:br>
              <a:rPr lang="en-GB" sz="2000" b="1" dirty="0">
                <a:latin typeface="Times New Roman" panose="02020603050405020304" pitchFamily="18" charset="0"/>
                <a:cs typeface="Times New Roman" panose="02020603050405020304" pitchFamily="18" charset="0"/>
              </a:rPr>
            </a:br>
            <a:br>
              <a:rPr lang="en-GB" sz="2000" b="1" dirty="0">
                <a:latin typeface="Times New Roman" panose="02020603050405020304" pitchFamily="18" charset="0"/>
                <a:cs typeface="Times New Roman" panose="02020603050405020304" pitchFamily="18" charset="0"/>
              </a:rPr>
            </a:br>
            <a:r>
              <a:rPr lang="en-GB" sz="2000" b="1" dirty="0">
                <a:latin typeface="Times New Roman" panose="02020603050405020304" pitchFamily="18" charset="0"/>
                <a:cs typeface="Times New Roman" panose="02020603050405020304" pitchFamily="18" charset="0"/>
              </a:rPr>
              <a:t>Hasmitha Sri S</a:t>
            </a:r>
            <a:br>
              <a:rPr lang="en-GB" sz="2000" b="1" dirty="0">
                <a:latin typeface="Times New Roman" panose="02020603050405020304" pitchFamily="18" charset="0"/>
                <a:cs typeface="Times New Roman" panose="02020603050405020304" pitchFamily="18" charset="0"/>
              </a:rPr>
            </a:br>
            <a:r>
              <a:rPr lang="en-GB" sz="2000" b="1" dirty="0">
                <a:latin typeface="Times New Roman" panose="02020603050405020304" pitchFamily="18" charset="0"/>
                <a:cs typeface="Times New Roman" panose="02020603050405020304" pitchFamily="18" charset="0"/>
              </a:rPr>
              <a:t>192371001</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DC98F9D-04F4-9ACB-6DB9-D1F33192F29E}"/>
              </a:ext>
            </a:extLst>
          </p:cNvPr>
          <p:cNvSpPr txBox="1"/>
          <p:nvPr/>
        </p:nvSpPr>
        <p:spPr>
          <a:xfrm>
            <a:off x="3686175" y="2781314"/>
            <a:ext cx="6215063" cy="1200329"/>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CO1 – ASSESSMENT TOOL 3</a:t>
            </a:r>
            <a:br>
              <a:rPr lang="en-GB" sz="2400" dirty="0">
                <a:latin typeface="Times New Roman" panose="02020603050405020304" pitchFamily="18" charset="0"/>
                <a:cs typeface="Times New Roman" panose="02020603050405020304" pitchFamily="18" charset="0"/>
              </a:rPr>
            </a:b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TECHNICAL PRESENTATION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593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73189"/>
            <a:ext cx="2377440" cy="365760"/>
          </a:xfrm>
          <a:prstGeom prst="roundRect">
            <a:avLst>
              <a:gd name="adj" fmla="val 20000"/>
            </a:avLst>
          </a:prstGeom>
          <a:solidFill>
            <a:srgbClr val="1C7293"/>
          </a:solidFill>
          <a:ln/>
        </p:spPr>
      </p:sp>
      <p:sp>
        <p:nvSpPr>
          <p:cNvPr id="3" name="Text 1"/>
          <p:cNvSpPr/>
          <p:nvPr/>
        </p:nvSpPr>
        <p:spPr>
          <a:xfrm>
            <a:off x="569976" y="388047"/>
            <a:ext cx="2377440" cy="365760"/>
          </a:xfrm>
          <a:prstGeom prst="rect">
            <a:avLst/>
          </a:prstGeom>
          <a:noFill/>
          <a:ln/>
        </p:spPr>
        <p:txBody>
          <a:bodyPr wrap="square" rtlCol="0" anchor="ctr"/>
          <a:lstStyle/>
          <a:p>
            <a:pPr marL="0" indent="0" algn="ctr">
              <a:buNone/>
            </a:pPr>
            <a:r>
              <a:rPr lang="en-US" b="1" kern="0" spc="100" dirty="0">
                <a:solidFill>
                  <a:srgbClr val="FFFFFF"/>
                </a:solidFill>
                <a:latin typeface="Calibri" pitchFamily="34" charset="0"/>
                <a:ea typeface="Calibri" pitchFamily="34" charset="-122"/>
                <a:cs typeface="Calibri" pitchFamily="34" charset="-120"/>
              </a:rPr>
              <a:t>INTRODUCTION</a:t>
            </a:r>
            <a:endParaRPr lang="en-US" dirty="0"/>
          </a:p>
        </p:txBody>
      </p:sp>
      <p:sp>
        <p:nvSpPr>
          <p:cNvPr id="4" name="Text 2"/>
          <p:cNvSpPr/>
          <p:nvPr/>
        </p:nvSpPr>
        <p:spPr>
          <a:xfrm>
            <a:off x="1289304" y="291465"/>
            <a:ext cx="9144000" cy="640080"/>
          </a:xfrm>
          <a:prstGeom prst="rect">
            <a:avLst/>
          </a:prstGeom>
          <a:noFill/>
          <a:ln/>
        </p:spPr>
        <p:txBody>
          <a:bodyPr wrap="square" rtlCol="0" anchor="ctr"/>
          <a:lstStyle/>
          <a:p>
            <a:pPr marL="0" indent="0" algn="ctr">
              <a:buNone/>
            </a:pPr>
            <a:r>
              <a:rPr lang="en-US" sz="3000" b="1" dirty="0">
                <a:solidFill>
                  <a:srgbClr val="21295C"/>
                </a:solidFill>
                <a:latin typeface="Cambria" pitchFamily="34" charset="0"/>
                <a:ea typeface="Cambria" pitchFamily="34" charset="-122"/>
                <a:cs typeface="Cambria" pitchFamily="34" charset="-120"/>
              </a:rPr>
              <a:t>What Is Cloud Storage?</a:t>
            </a:r>
            <a:endParaRPr lang="en-US" sz="3000" dirty="0"/>
          </a:p>
        </p:txBody>
      </p:sp>
      <p:sp>
        <p:nvSpPr>
          <p:cNvPr id="5" name="Text 3"/>
          <p:cNvSpPr/>
          <p:nvPr/>
        </p:nvSpPr>
        <p:spPr>
          <a:xfrm>
            <a:off x="640080" y="976693"/>
            <a:ext cx="10881360" cy="914400"/>
          </a:xfrm>
          <a:prstGeom prst="rect">
            <a:avLst/>
          </a:prstGeom>
          <a:noFill/>
          <a:ln/>
        </p:spPr>
        <p:txBody>
          <a:bodyPr wrap="square" rtlCol="0" anchor="ctr"/>
          <a:lstStyle/>
          <a:p>
            <a:pPr marL="0" indent="0">
              <a:lnSpc>
                <a:spcPct val="125000"/>
              </a:lnSpc>
              <a:buNone/>
            </a:pPr>
            <a:r>
              <a:rPr lang="en-US" sz="2000" b="1" dirty="0">
                <a:solidFill>
                  <a:srgbClr val="065A82"/>
                </a:solidFill>
                <a:latin typeface="Times New Roman" panose="02020603050405020304" pitchFamily="18" charset="0"/>
                <a:ea typeface="Calibri" pitchFamily="34" charset="-122"/>
                <a:cs typeface="Times New Roman" panose="02020603050405020304" pitchFamily="18" charset="0"/>
              </a:rPr>
              <a:t>Cloud storage </a:t>
            </a: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is a service model in which digital data is saved on remote servers, maintained and operated by a cloud provider, and made accessible to users over the internet on demand — rather than on a local hard drive</a:t>
            </a:r>
            <a:r>
              <a:rPr lang="en-US" dirty="0">
                <a:solidFill>
                  <a:srgbClr val="333333"/>
                </a:solidFill>
                <a:latin typeface="Times New Roman" panose="02020603050405020304" pitchFamily="18" charset="0"/>
                <a:ea typeface="Calibri"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621792" y="2042541"/>
            <a:ext cx="2578608" cy="3929634"/>
          </a:xfrm>
          <a:prstGeom prst="roundRect">
            <a:avLst>
              <a:gd name="adj" fmla="val 3191"/>
            </a:avLst>
          </a:prstGeom>
          <a:solidFill>
            <a:srgbClr val="EAF4FA"/>
          </a:solidFill>
          <a:ln/>
          <a:effectLst>
            <a:outerShdw blurRad="76200" dist="25400" dir="5400000" algn="bl" rotWithShape="0">
              <a:srgbClr val="999999">
                <a:alpha val="25000"/>
              </a:srgbClr>
            </a:outerShdw>
          </a:effectLst>
        </p:spPr>
      </p:sp>
      <p:sp>
        <p:nvSpPr>
          <p:cNvPr id="8" name="Text 6"/>
          <p:cNvSpPr/>
          <p:nvPr/>
        </p:nvSpPr>
        <p:spPr>
          <a:xfrm>
            <a:off x="1618488" y="3154680"/>
            <a:ext cx="621792" cy="621792"/>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676656" y="2157984"/>
            <a:ext cx="2304288" cy="411480"/>
          </a:xfrm>
          <a:prstGeom prst="rect">
            <a:avLst/>
          </a:prstGeom>
          <a:noFill/>
          <a:ln/>
        </p:spPr>
        <p:txBody>
          <a:bodyPr wrap="square"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Scalability</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822960" y="3429000"/>
            <a:ext cx="2212848" cy="1280160"/>
          </a:xfrm>
          <a:prstGeom prst="rect">
            <a:avLst/>
          </a:prstGeom>
          <a:noFill/>
          <a:ln/>
        </p:spPr>
        <p:txBody>
          <a:bodyPr wrap="square" rtlCol="0" anchor="ctr"/>
          <a:lstStyle/>
          <a:p>
            <a:pPr marL="0" indent="0" algn="ctr">
              <a:lnSpc>
                <a:spcPct val="115000"/>
              </a:lnSpc>
              <a:buNone/>
            </a:pPr>
            <a:r>
              <a:rPr lang="en-US" sz="2000" dirty="0">
                <a:solidFill>
                  <a:srgbClr val="444444"/>
                </a:solidFill>
                <a:latin typeface="Times New Roman" panose="02020603050405020304" pitchFamily="18" charset="0"/>
                <a:ea typeface="Calibri" pitchFamily="34" charset="-122"/>
                <a:cs typeface="Times New Roman" panose="02020603050405020304" pitchFamily="18" charset="0"/>
              </a:rPr>
              <a:t>Storage capacity expands or shrinks automatically as data needs change, with no manual hardware upgrades</a:t>
            </a:r>
            <a:r>
              <a:rPr lang="en-US" sz="1100" dirty="0">
                <a:solidFill>
                  <a:srgbClr val="444444"/>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3456432" y="2042541"/>
            <a:ext cx="2578608" cy="3929634"/>
          </a:xfrm>
          <a:prstGeom prst="roundRect">
            <a:avLst>
              <a:gd name="adj" fmla="val 3191"/>
            </a:avLst>
          </a:prstGeom>
          <a:solidFill>
            <a:srgbClr val="EAF4FA"/>
          </a:solidFill>
          <a:ln/>
          <a:effectLst>
            <a:outerShdw blurRad="76200" dist="25400" dir="5400000" algn="bl" rotWithShape="0">
              <a:srgbClr val="999999">
                <a:alpha val="25000"/>
              </a:srgbClr>
            </a:outerShdw>
          </a:effectLst>
        </p:spPr>
      </p:sp>
      <p:sp>
        <p:nvSpPr>
          <p:cNvPr id="13" name="Text 11"/>
          <p:cNvSpPr/>
          <p:nvPr/>
        </p:nvSpPr>
        <p:spPr>
          <a:xfrm>
            <a:off x="4453128" y="3154680"/>
            <a:ext cx="621792" cy="621792"/>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3557016" y="2049399"/>
            <a:ext cx="2304288" cy="411480"/>
          </a:xfrm>
          <a:prstGeom prst="rect">
            <a:avLst/>
          </a:prstGeom>
          <a:noFill/>
          <a:ln/>
        </p:spPr>
        <p:txBody>
          <a:bodyPr wrap="square"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Accessibility</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3602736" y="3420427"/>
            <a:ext cx="2212848" cy="1280160"/>
          </a:xfrm>
          <a:prstGeom prst="rect">
            <a:avLst/>
          </a:prstGeom>
          <a:noFill/>
          <a:ln/>
        </p:spPr>
        <p:txBody>
          <a:bodyPr wrap="square" rtlCol="0" anchor="ctr"/>
          <a:lstStyle/>
          <a:p>
            <a:pPr marL="0" indent="0" algn="ctr">
              <a:lnSpc>
                <a:spcPct val="115000"/>
              </a:lnSpc>
              <a:buNone/>
            </a:pPr>
            <a:r>
              <a:rPr lang="en-US" sz="2000" dirty="0">
                <a:solidFill>
                  <a:srgbClr val="444444"/>
                </a:solidFill>
                <a:latin typeface="Times New Roman" panose="02020603050405020304" pitchFamily="18" charset="0"/>
                <a:ea typeface="Calibri" pitchFamily="34" charset="-122"/>
                <a:cs typeface="Times New Roman" panose="02020603050405020304" pitchFamily="18" charset="0"/>
              </a:rPr>
              <a:t>Files are reachable anytime, anywhere, from any internet-connected device via web or app interfaces.</a:t>
            </a:r>
            <a:endParaRPr lang="en-US" sz="2000" dirty="0">
              <a:latin typeface="Times New Roman" panose="02020603050405020304" pitchFamily="18" charset="0"/>
              <a:cs typeface="Times New Roman" panose="02020603050405020304" pitchFamily="18" charset="0"/>
            </a:endParaRPr>
          </a:p>
        </p:txBody>
      </p:sp>
      <p:sp>
        <p:nvSpPr>
          <p:cNvPr id="16" name="Shape 14"/>
          <p:cNvSpPr/>
          <p:nvPr/>
        </p:nvSpPr>
        <p:spPr>
          <a:xfrm>
            <a:off x="6309360" y="2055685"/>
            <a:ext cx="2578608" cy="3953637"/>
          </a:xfrm>
          <a:prstGeom prst="roundRect">
            <a:avLst>
              <a:gd name="adj" fmla="val 3191"/>
            </a:avLst>
          </a:prstGeom>
          <a:solidFill>
            <a:srgbClr val="EAF4FA"/>
          </a:solidFill>
          <a:ln/>
          <a:effectLst>
            <a:outerShdw blurRad="76200" dist="25400" dir="5400000" algn="bl" rotWithShape="0">
              <a:srgbClr val="999999">
                <a:alpha val="25000"/>
              </a:srgbClr>
            </a:outerShdw>
          </a:effectLst>
        </p:spPr>
      </p:sp>
      <p:sp>
        <p:nvSpPr>
          <p:cNvPr id="19" name="Text 17"/>
          <p:cNvSpPr/>
          <p:nvPr/>
        </p:nvSpPr>
        <p:spPr>
          <a:xfrm>
            <a:off x="6400800" y="2080831"/>
            <a:ext cx="2304288" cy="411480"/>
          </a:xfrm>
          <a:prstGeom prst="rect">
            <a:avLst/>
          </a:prstGeom>
          <a:noFill/>
          <a:ln/>
        </p:spPr>
        <p:txBody>
          <a:bodyPr wrap="square"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Redundancy</a:t>
            </a:r>
            <a:endParaRPr lang="en-US" dirty="0">
              <a:latin typeface="Times New Roman" panose="02020603050405020304" pitchFamily="18" charset="0"/>
              <a:cs typeface="Times New Roman" panose="02020603050405020304" pitchFamily="18" charset="0"/>
            </a:endParaRPr>
          </a:p>
        </p:txBody>
      </p:sp>
      <p:sp>
        <p:nvSpPr>
          <p:cNvPr id="20" name="Text 18"/>
          <p:cNvSpPr/>
          <p:nvPr/>
        </p:nvSpPr>
        <p:spPr>
          <a:xfrm>
            <a:off x="6492240" y="3291840"/>
            <a:ext cx="2212848" cy="1280160"/>
          </a:xfrm>
          <a:prstGeom prst="rect">
            <a:avLst/>
          </a:prstGeom>
          <a:noFill/>
          <a:ln/>
        </p:spPr>
        <p:txBody>
          <a:bodyPr wrap="square" rtlCol="0" anchor="ctr"/>
          <a:lstStyle/>
          <a:p>
            <a:pPr marL="0" indent="0" algn="ctr">
              <a:lnSpc>
                <a:spcPct val="115000"/>
              </a:lnSpc>
              <a:buNone/>
            </a:pPr>
            <a:r>
              <a:rPr lang="en-US" sz="2000" dirty="0">
                <a:solidFill>
                  <a:srgbClr val="444444"/>
                </a:solidFill>
                <a:latin typeface="Times New Roman" panose="02020603050405020304" pitchFamily="18" charset="0"/>
                <a:ea typeface="Calibri" pitchFamily="34" charset="-122"/>
                <a:cs typeface="Times New Roman" panose="02020603050405020304" pitchFamily="18" charset="0"/>
              </a:rPr>
              <a:t>Data is duplicated across multiple physical locations to protect against loss and hardware failure.</a:t>
            </a:r>
            <a:endParaRPr lang="en-US" sz="2000" dirty="0">
              <a:latin typeface="Times New Roman" panose="02020603050405020304" pitchFamily="18" charset="0"/>
              <a:cs typeface="Times New Roman" panose="02020603050405020304" pitchFamily="18" charset="0"/>
            </a:endParaRPr>
          </a:p>
        </p:txBody>
      </p:sp>
      <p:sp>
        <p:nvSpPr>
          <p:cNvPr id="21" name="Shape 19"/>
          <p:cNvSpPr/>
          <p:nvPr/>
        </p:nvSpPr>
        <p:spPr>
          <a:xfrm>
            <a:off x="9144000" y="2049399"/>
            <a:ext cx="2578608" cy="3997071"/>
          </a:xfrm>
          <a:prstGeom prst="roundRect">
            <a:avLst>
              <a:gd name="adj" fmla="val 3191"/>
            </a:avLst>
          </a:prstGeom>
          <a:solidFill>
            <a:srgbClr val="EAF4FA"/>
          </a:solidFill>
          <a:ln/>
          <a:effectLst>
            <a:outerShdw blurRad="76200" dist="25400" dir="5400000" algn="bl" rotWithShape="0">
              <a:srgbClr val="999999">
                <a:alpha val="25000"/>
              </a:srgbClr>
            </a:outerShdw>
          </a:effectLst>
        </p:spPr>
      </p:sp>
      <p:sp>
        <p:nvSpPr>
          <p:cNvPr id="24" name="Text 22"/>
          <p:cNvSpPr/>
          <p:nvPr/>
        </p:nvSpPr>
        <p:spPr>
          <a:xfrm>
            <a:off x="9211056" y="2049399"/>
            <a:ext cx="2304288" cy="411480"/>
          </a:xfrm>
          <a:prstGeom prst="rect">
            <a:avLst/>
          </a:prstGeom>
          <a:noFill/>
          <a:ln/>
        </p:spPr>
        <p:txBody>
          <a:bodyPr wrap="square" rtlCol="0" anchor="ctr"/>
          <a:lstStyle/>
          <a:p>
            <a:pPr marL="0" indent="0" algn="ctr">
              <a:buNone/>
            </a:pPr>
            <a:r>
              <a:rPr lang="en-US" b="1" dirty="0">
                <a:solidFill>
                  <a:srgbClr val="21295C"/>
                </a:solidFill>
                <a:latin typeface="Times New Roman" panose="02020603050405020304" pitchFamily="18" charset="0"/>
                <a:ea typeface="Cambria" pitchFamily="34" charset="-122"/>
                <a:cs typeface="Times New Roman" panose="02020603050405020304" pitchFamily="18" charset="0"/>
              </a:rPr>
              <a:t>Virtualization</a:t>
            </a:r>
            <a:endParaRPr lang="en-US" dirty="0">
              <a:latin typeface="Times New Roman" panose="02020603050405020304" pitchFamily="18" charset="0"/>
              <a:cs typeface="Times New Roman" panose="02020603050405020304" pitchFamily="18" charset="0"/>
            </a:endParaRPr>
          </a:p>
        </p:txBody>
      </p:sp>
      <p:sp>
        <p:nvSpPr>
          <p:cNvPr id="25" name="Text 23"/>
          <p:cNvSpPr/>
          <p:nvPr/>
        </p:nvSpPr>
        <p:spPr>
          <a:xfrm>
            <a:off x="9339072" y="3291840"/>
            <a:ext cx="2212848" cy="1280160"/>
          </a:xfrm>
          <a:prstGeom prst="rect">
            <a:avLst/>
          </a:prstGeom>
          <a:noFill/>
          <a:ln/>
        </p:spPr>
        <p:txBody>
          <a:bodyPr wrap="square" rtlCol="0" anchor="ctr"/>
          <a:lstStyle/>
          <a:p>
            <a:pPr marL="0" indent="0" algn="ctr">
              <a:lnSpc>
                <a:spcPct val="115000"/>
              </a:lnSpc>
              <a:buNone/>
            </a:pPr>
            <a:r>
              <a:rPr lang="en-US" sz="2000" dirty="0">
                <a:solidFill>
                  <a:srgbClr val="444444"/>
                </a:solidFill>
                <a:latin typeface="Times New Roman" panose="02020603050405020304" pitchFamily="18" charset="0"/>
                <a:ea typeface="Calibri" pitchFamily="34" charset="-122"/>
                <a:cs typeface="Times New Roman" panose="02020603050405020304" pitchFamily="18" charset="0"/>
              </a:rPr>
              <a:t>Physical storage hardware is abstracted into flexible, logical storage pools shared across users.</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Understanding Cloud Storage Mechanisms</a:t>
            </a:r>
            <a:endParaRPr lang="en-US" sz="1000" dirty="0"/>
          </a:p>
        </p:txBody>
      </p:sp>
      <p:sp>
        <p:nvSpPr>
          <p:cNvPr id="27" name="Text 2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2377440" cy="365760"/>
          </a:xfrm>
          <a:prstGeom prst="roundRect">
            <a:avLst>
              <a:gd name="adj" fmla="val 20000"/>
            </a:avLst>
          </a:prstGeom>
          <a:solidFill>
            <a:srgbClr val="1C7293"/>
          </a:solidFill>
          <a:ln/>
        </p:spPr>
      </p:sp>
      <p:sp>
        <p:nvSpPr>
          <p:cNvPr id="3" name="Text 1"/>
          <p:cNvSpPr/>
          <p:nvPr/>
        </p:nvSpPr>
        <p:spPr>
          <a:xfrm>
            <a:off x="640080" y="502920"/>
            <a:ext cx="2377440" cy="365760"/>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METHODOLOGY  ·  STAGE 1 OF 3</a:t>
            </a:r>
            <a:endParaRPr lang="en-US" sz="1100" dirty="0"/>
          </a:p>
        </p:txBody>
      </p:sp>
      <p:sp>
        <p:nvSpPr>
          <p:cNvPr id="4" name="Text 2"/>
          <p:cNvSpPr/>
          <p:nvPr/>
        </p:nvSpPr>
        <p:spPr>
          <a:xfrm>
            <a:off x="640080" y="960120"/>
            <a:ext cx="10515600" cy="594360"/>
          </a:xfrm>
          <a:prstGeom prst="rect">
            <a:avLst/>
          </a:prstGeom>
          <a:noFill/>
          <a:ln/>
        </p:spPr>
        <p:txBody>
          <a:bodyPr wrap="square" rtlCol="0" anchor="ctr"/>
          <a:lstStyle/>
          <a:p>
            <a:pPr marL="0" indent="0" algn="ctr">
              <a:buNone/>
            </a:pPr>
            <a:r>
              <a:rPr lang="en-US" sz="2700" b="1" dirty="0">
                <a:solidFill>
                  <a:srgbClr val="21295C"/>
                </a:solidFill>
                <a:latin typeface="Cambria" pitchFamily="34" charset="0"/>
                <a:ea typeface="Cambria" pitchFamily="34" charset="-122"/>
                <a:cs typeface="Cambria" pitchFamily="34" charset="-120"/>
              </a:rPr>
              <a:t>Client &amp; Access Layer</a:t>
            </a:r>
            <a:endParaRPr lang="en-US" sz="2700" dirty="0"/>
          </a:p>
        </p:txBody>
      </p:sp>
      <p:sp>
        <p:nvSpPr>
          <p:cNvPr id="5" name="Text 3"/>
          <p:cNvSpPr/>
          <p:nvPr/>
        </p:nvSpPr>
        <p:spPr>
          <a:xfrm>
            <a:off x="640080" y="1536192"/>
            <a:ext cx="10515600" cy="365760"/>
          </a:xfrm>
          <a:prstGeom prst="rect">
            <a:avLst/>
          </a:prstGeom>
          <a:noFill/>
          <a:ln/>
        </p:spPr>
        <p:txBody>
          <a:bodyPr wrap="square" rtlCol="0" anchor="ctr"/>
          <a:lstStyle/>
          <a:p>
            <a:pPr marL="0" indent="0" algn="ctr">
              <a:buNone/>
            </a:pPr>
            <a:r>
              <a:rPr lang="en-US" sz="2000" b="1" i="1" dirty="0">
                <a:solidFill>
                  <a:srgbClr val="5B6B77"/>
                </a:solidFill>
                <a:latin typeface="Times New Roman" panose="02020603050405020304" pitchFamily="18" charset="0"/>
                <a:ea typeface="Calibri" pitchFamily="34" charset="-122"/>
                <a:cs typeface="Times New Roman" panose="02020603050405020304" pitchFamily="18" charset="0"/>
              </a:rPr>
              <a:t>How a request enters the cloud storage system</a:t>
            </a:r>
            <a:endParaRPr lang="en-US" sz="2000" b="1" dirty="0">
              <a:latin typeface="Times New Roman" panose="02020603050405020304" pitchFamily="18" charset="0"/>
              <a:cs typeface="Times New Roman" panose="02020603050405020304" pitchFamily="18" charset="0"/>
            </a:endParaRPr>
          </a:p>
        </p:txBody>
      </p:sp>
      <p:sp>
        <p:nvSpPr>
          <p:cNvPr id="6" name="Shape 4"/>
          <p:cNvSpPr/>
          <p:nvPr/>
        </p:nvSpPr>
        <p:spPr>
          <a:xfrm>
            <a:off x="640080" y="2788920"/>
            <a:ext cx="2331720" cy="2999232"/>
          </a:xfrm>
          <a:prstGeom prst="roundRect">
            <a:avLst>
              <a:gd name="adj" fmla="val 5714"/>
            </a:avLst>
          </a:prstGeom>
          <a:solidFill>
            <a:srgbClr val="EAF4FA"/>
          </a:solidFill>
          <a:ln w="19050">
            <a:solidFill>
              <a:srgbClr val="065A82"/>
            </a:solidFill>
            <a:prstDash val="solid"/>
          </a:ln>
        </p:spPr>
      </p:sp>
      <p:sp>
        <p:nvSpPr>
          <p:cNvPr id="7" name="Shape 5"/>
          <p:cNvSpPr/>
          <p:nvPr/>
        </p:nvSpPr>
        <p:spPr>
          <a:xfrm>
            <a:off x="640080" y="2788920"/>
            <a:ext cx="2331720" cy="457200"/>
          </a:xfrm>
          <a:prstGeom prst="roundRect">
            <a:avLst>
              <a:gd name="adj" fmla="val 20000"/>
            </a:avLst>
          </a:prstGeom>
          <a:solidFill>
            <a:srgbClr val="065A82"/>
          </a:solidFill>
          <a:ln/>
        </p:spPr>
      </p:sp>
      <p:sp>
        <p:nvSpPr>
          <p:cNvPr id="8" name="Shape 6"/>
          <p:cNvSpPr/>
          <p:nvPr/>
        </p:nvSpPr>
        <p:spPr>
          <a:xfrm>
            <a:off x="640080" y="3017520"/>
            <a:ext cx="2331720" cy="228600"/>
          </a:xfrm>
          <a:prstGeom prst="rect">
            <a:avLst/>
          </a:prstGeom>
          <a:solidFill>
            <a:srgbClr val="065A82"/>
          </a:solidFill>
          <a:ln/>
        </p:spPr>
      </p:sp>
      <p:sp>
        <p:nvSpPr>
          <p:cNvPr id="9" name="Text 7"/>
          <p:cNvSpPr/>
          <p:nvPr/>
        </p:nvSpPr>
        <p:spPr>
          <a:xfrm>
            <a:off x="777240" y="2788920"/>
            <a:ext cx="2057400" cy="457200"/>
          </a:xfrm>
          <a:prstGeom prst="rect">
            <a:avLst/>
          </a:prstGeom>
          <a:noFill/>
          <a:ln/>
        </p:spPr>
        <p:txBody>
          <a:bodyPr wrap="square" rtlCol="0" anchor="ctr"/>
          <a:lstStyle/>
          <a:p>
            <a:pPr marL="0" indent="0">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1. User / App</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80467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Person or application initiates an upload, download, or sync action.</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3017520" y="3461004"/>
            <a:ext cx="411480" cy="256032"/>
          </a:xfrm>
          <a:prstGeom prst="rightArrow">
            <a:avLst/>
          </a:prstGeom>
          <a:solidFill>
            <a:srgbClr val="1C7293"/>
          </a:solidFill>
          <a:ln/>
        </p:spPr>
      </p:sp>
      <p:sp>
        <p:nvSpPr>
          <p:cNvPr id="12" name="Shape 10"/>
          <p:cNvSpPr/>
          <p:nvPr/>
        </p:nvSpPr>
        <p:spPr>
          <a:xfrm>
            <a:off x="3474720" y="2788920"/>
            <a:ext cx="2331720" cy="2999232"/>
          </a:xfrm>
          <a:prstGeom prst="roundRect">
            <a:avLst>
              <a:gd name="adj" fmla="val 5714"/>
            </a:avLst>
          </a:prstGeom>
          <a:solidFill>
            <a:srgbClr val="EAF4FA"/>
          </a:solidFill>
          <a:ln w="19050">
            <a:solidFill>
              <a:srgbClr val="065A82"/>
            </a:solidFill>
            <a:prstDash val="solid"/>
          </a:ln>
        </p:spPr>
      </p:sp>
      <p:sp>
        <p:nvSpPr>
          <p:cNvPr id="13" name="Shape 11"/>
          <p:cNvSpPr/>
          <p:nvPr/>
        </p:nvSpPr>
        <p:spPr>
          <a:xfrm>
            <a:off x="3474720" y="2788920"/>
            <a:ext cx="2331720" cy="457200"/>
          </a:xfrm>
          <a:prstGeom prst="roundRect">
            <a:avLst>
              <a:gd name="adj" fmla="val 20000"/>
            </a:avLst>
          </a:prstGeom>
          <a:solidFill>
            <a:srgbClr val="065A82"/>
          </a:solidFill>
          <a:ln/>
        </p:spPr>
      </p:sp>
      <p:sp>
        <p:nvSpPr>
          <p:cNvPr id="14" name="Shape 12"/>
          <p:cNvSpPr/>
          <p:nvPr/>
        </p:nvSpPr>
        <p:spPr>
          <a:xfrm>
            <a:off x="3474720" y="3017520"/>
            <a:ext cx="2331720" cy="228600"/>
          </a:xfrm>
          <a:prstGeom prst="rect">
            <a:avLst/>
          </a:prstGeom>
          <a:solidFill>
            <a:srgbClr val="065A82"/>
          </a:solidFill>
          <a:ln/>
        </p:spPr>
      </p:sp>
      <p:sp>
        <p:nvSpPr>
          <p:cNvPr id="15" name="Text 13"/>
          <p:cNvSpPr/>
          <p:nvPr/>
        </p:nvSpPr>
        <p:spPr>
          <a:xfrm>
            <a:off x="3611880" y="2788920"/>
            <a:ext cx="2057400" cy="457200"/>
          </a:xfrm>
          <a:prstGeom prst="rect">
            <a:avLst/>
          </a:prstGeom>
          <a:noFill/>
          <a:ln/>
        </p:spPr>
        <p:txBody>
          <a:bodyPr wrap="square" rtlCol="0" anchor="ctr"/>
          <a:lstStyle/>
          <a:p>
            <a:pPr marL="0" indent="0">
              <a:buNone/>
            </a:pPr>
            <a:r>
              <a:rPr lang="en-US" b="1" dirty="0">
                <a:solidFill>
                  <a:srgbClr val="FFFFFF"/>
                </a:solidFill>
                <a:latin typeface="Times New Roman" panose="02020603050405020304" pitchFamily="18" charset="0"/>
                <a:ea typeface="Cambria" pitchFamily="34" charset="-122"/>
                <a:cs typeface="Times New Roman" panose="02020603050405020304" pitchFamily="18" charset="0"/>
              </a:rPr>
              <a:t>2. Client Interface</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363931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Browser, mobile app, or SDK converts the action into an API call.</a:t>
            </a:r>
            <a:endParaRPr lang="en-US" sz="2000" dirty="0">
              <a:latin typeface="Times New Roman" panose="02020603050405020304" pitchFamily="18" charset="0"/>
              <a:cs typeface="Times New Roman" panose="02020603050405020304" pitchFamily="18" charset="0"/>
            </a:endParaRPr>
          </a:p>
        </p:txBody>
      </p:sp>
      <p:sp>
        <p:nvSpPr>
          <p:cNvPr id="17" name="Shape 15"/>
          <p:cNvSpPr/>
          <p:nvPr/>
        </p:nvSpPr>
        <p:spPr>
          <a:xfrm>
            <a:off x="5852160" y="3461004"/>
            <a:ext cx="411480" cy="256032"/>
          </a:xfrm>
          <a:prstGeom prst="rightArrow">
            <a:avLst/>
          </a:prstGeom>
          <a:solidFill>
            <a:srgbClr val="1C7293"/>
          </a:solidFill>
          <a:ln/>
        </p:spPr>
      </p:sp>
      <p:sp>
        <p:nvSpPr>
          <p:cNvPr id="18" name="Shape 16"/>
          <p:cNvSpPr/>
          <p:nvPr/>
        </p:nvSpPr>
        <p:spPr>
          <a:xfrm>
            <a:off x="6309360" y="2788920"/>
            <a:ext cx="2331720" cy="2999232"/>
          </a:xfrm>
          <a:prstGeom prst="roundRect">
            <a:avLst>
              <a:gd name="adj" fmla="val 5714"/>
            </a:avLst>
          </a:prstGeom>
          <a:solidFill>
            <a:srgbClr val="EAF4FA"/>
          </a:solidFill>
          <a:ln w="19050">
            <a:solidFill>
              <a:srgbClr val="1C7293"/>
            </a:solidFill>
            <a:prstDash val="solid"/>
          </a:ln>
        </p:spPr>
      </p:sp>
      <p:sp>
        <p:nvSpPr>
          <p:cNvPr id="19" name="Shape 17"/>
          <p:cNvSpPr/>
          <p:nvPr/>
        </p:nvSpPr>
        <p:spPr>
          <a:xfrm>
            <a:off x="6309360" y="2788920"/>
            <a:ext cx="2331720" cy="457200"/>
          </a:xfrm>
          <a:prstGeom prst="roundRect">
            <a:avLst>
              <a:gd name="adj" fmla="val 20000"/>
            </a:avLst>
          </a:prstGeom>
          <a:solidFill>
            <a:srgbClr val="1C7293"/>
          </a:solidFill>
          <a:ln/>
        </p:spPr>
      </p:sp>
      <p:sp>
        <p:nvSpPr>
          <p:cNvPr id="20" name="Shape 18"/>
          <p:cNvSpPr/>
          <p:nvPr/>
        </p:nvSpPr>
        <p:spPr>
          <a:xfrm>
            <a:off x="6309360" y="3017520"/>
            <a:ext cx="2331720" cy="228600"/>
          </a:xfrm>
          <a:prstGeom prst="rect">
            <a:avLst/>
          </a:prstGeom>
          <a:solidFill>
            <a:srgbClr val="1C7293"/>
          </a:solidFill>
          <a:ln/>
        </p:spPr>
      </p:sp>
      <p:sp>
        <p:nvSpPr>
          <p:cNvPr id="21" name="Text 19"/>
          <p:cNvSpPr/>
          <p:nvPr/>
        </p:nvSpPr>
        <p:spPr>
          <a:xfrm>
            <a:off x="6446520" y="2788920"/>
            <a:ext cx="2057400" cy="457200"/>
          </a:xfrm>
          <a:prstGeom prst="rect">
            <a:avLst/>
          </a:prstGeom>
          <a:noFill/>
          <a:ln/>
        </p:spPr>
        <p:txBody>
          <a:bodyPr wrap="square" rtlCol="0" anchor="ctr"/>
          <a:lstStyle/>
          <a:p>
            <a:pPr marL="0" indent="0">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3. Authentication</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647395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Identity and access management verifies credentials and permissions.</a:t>
            </a:r>
            <a:endParaRPr lang="en-US" sz="2000" dirty="0">
              <a:latin typeface="Times New Roman" panose="02020603050405020304" pitchFamily="18" charset="0"/>
              <a:cs typeface="Times New Roman" panose="02020603050405020304" pitchFamily="18" charset="0"/>
            </a:endParaRPr>
          </a:p>
        </p:txBody>
      </p:sp>
      <p:sp>
        <p:nvSpPr>
          <p:cNvPr id="23" name="Shape 21"/>
          <p:cNvSpPr/>
          <p:nvPr/>
        </p:nvSpPr>
        <p:spPr>
          <a:xfrm>
            <a:off x="8686800" y="3461004"/>
            <a:ext cx="411480" cy="256032"/>
          </a:xfrm>
          <a:prstGeom prst="rightArrow">
            <a:avLst/>
          </a:prstGeom>
          <a:solidFill>
            <a:srgbClr val="1C7293"/>
          </a:solidFill>
          <a:ln/>
        </p:spPr>
      </p:sp>
      <p:sp>
        <p:nvSpPr>
          <p:cNvPr id="24" name="Shape 22"/>
          <p:cNvSpPr/>
          <p:nvPr/>
        </p:nvSpPr>
        <p:spPr>
          <a:xfrm>
            <a:off x="9144000" y="2788920"/>
            <a:ext cx="2331720" cy="2999232"/>
          </a:xfrm>
          <a:prstGeom prst="roundRect">
            <a:avLst>
              <a:gd name="adj" fmla="val 5714"/>
            </a:avLst>
          </a:prstGeom>
          <a:solidFill>
            <a:srgbClr val="EAF4FA"/>
          </a:solidFill>
          <a:ln w="19050">
            <a:solidFill>
              <a:srgbClr val="1C7293"/>
            </a:solidFill>
            <a:prstDash val="solid"/>
          </a:ln>
        </p:spPr>
      </p:sp>
      <p:sp>
        <p:nvSpPr>
          <p:cNvPr id="25" name="Shape 23"/>
          <p:cNvSpPr/>
          <p:nvPr/>
        </p:nvSpPr>
        <p:spPr>
          <a:xfrm>
            <a:off x="9144000" y="2788920"/>
            <a:ext cx="2331720" cy="457200"/>
          </a:xfrm>
          <a:prstGeom prst="roundRect">
            <a:avLst>
              <a:gd name="adj" fmla="val 20000"/>
            </a:avLst>
          </a:prstGeom>
          <a:solidFill>
            <a:srgbClr val="1C7293"/>
          </a:solidFill>
          <a:ln/>
        </p:spPr>
      </p:sp>
      <p:sp>
        <p:nvSpPr>
          <p:cNvPr id="26" name="Shape 24"/>
          <p:cNvSpPr/>
          <p:nvPr/>
        </p:nvSpPr>
        <p:spPr>
          <a:xfrm>
            <a:off x="9144000" y="3017520"/>
            <a:ext cx="2331720" cy="228600"/>
          </a:xfrm>
          <a:prstGeom prst="rect">
            <a:avLst/>
          </a:prstGeom>
          <a:solidFill>
            <a:srgbClr val="1C7293"/>
          </a:solidFill>
          <a:ln/>
        </p:spPr>
      </p:sp>
      <p:sp>
        <p:nvSpPr>
          <p:cNvPr id="27" name="Text 25"/>
          <p:cNvSpPr/>
          <p:nvPr/>
        </p:nvSpPr>
        <p:spPr>
          <a:xfrm>
            <a:off x="9281160" y="2788920"/>
            <a:ext cx="2057400" cy="457200"/>
          </a:xfrm>
          <a:prstGeom prst="rect">
            <a:avLst/>
          </a:prstGeom>
          <a:noFill/>
          <a:ln/>
        </p:spPr>
        <p:txBody>
          <a:bodyPr wrap="square" rtlCol="0" anchor="ctr"/>
          <a:lstStyle/>
          <a:p>
            <a:pPr marL="0" indent="0">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4. Load Balancer</a:t>
            </a:r>
            <a:endParaRPr lang="en-US" sz="2000" dirty="0">
              <a:latin typeface="Times New Roman" panose="02020603050405020304" pitchFamily="18" charset="0"/>
              <a:cs typeface="Times New Roman" panose="02020603050405020304" pitchFamily="18" charset="0"/>
            </a:endParaRPr>
          </a:p>
        </p:txBody>
      </p:sp>
      <p:sp>
        <p:nvSpPr>
          <p:cNvPr id="28" name="Text 26"/>
          <p:cNvSpPr/>
          <p:nvPr/>
        </p:nvSpPr>
        <p:spPr>
          <a:xfrm>
            <a:off x="930859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Distributes the request to the nearest / least-loaded storage node.</a:t>
            </a:r>
            <a:endParaRPr lang="en-US" sz="2000" dirty="0">
              <a:latin typeface="Times New Roman" panose="02020603050405020304" pitchFamily="18" charset="0"/>
              <a:cs typeface="Times New Roman" panose="02020603050405020304" pitchFamily="18" charset="0"/>
            </a:endParaRPr>
          </a:p>
        </p:txBody>
      </p:sp>
      <p:sp>
        <p:nvSpPr>
          <p:cNvPr id="31" name="Text 29"/>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Understanding Cloud Storage Mechanisms</a:t>
            </a:r>
            <a:endParaRPr lang="en-US" sz="1000" dirty="0"/>
          </a:p>
        </p:txBody>
      </p:sp>
      <p:sp>
        <p:nvSpPr>
          <p:cNvPr id="32" name="Text 3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2377440" cy="365760"/>
          </a:xfrm>
          <a:prstGeom prst="roundRect">
            <a:avLst>
              <a:gd name="adj" fmla="val 20000"/>
            </a:avLst>
          </a:prstGeom>
          <a:solidFill>
            <a:srgbClr val="1C7293"/>
          </a:solidFill>
          <a:ln/>
        </p:spPr>
      </p:sp>
      <p:sp>
        <p:nvSpPr>
          <p:cNvPr id="3" name="Text 1"/>
          <p:cNvSpPr/>
          <p:nvPr/>
        </p:nvSpPr>
        <p:spPr>
          <a:xfrm>
            <a:off x="640080" y="502920"/>
            <a:ext cx="2377440" cy="365760"/>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METHODOLOGY  ·  STAGE 2 OF 3</a:t>
            </a:r>
            <a:endParaRPr lang="en-US" sz="1100" dirty="0"/>
          </a:p>
        </p:txBody>
      </p:sp>
      <p:sp>
        <p:nvSpPr>
          <p:cNvPr id="4" name="Text 2"/>
          <p:cNvSpPr/>
          <p:nvPr/>
        </p:nvSpPr>
        <p:spPr>
          <a:xfrm>
            <a:off x="640080" y="960120"/>
            <a:ext cx="10515600" cy="594360"/>
          </a:xfrm>
          <a:prstGeom prst="rect">
            <a:avLst/>
          </a:prstGeom>
          <a:noFill/>
          <a:ln/>
        </p:spPr>
        <p:txBody>
          <a:bodyPr wrap="square" rtlCol="0" anchor="ctr"/>
          <a:lstStyle/>
          <a:p>
            <a:pPr marL="0" indent="0" algn="ctr">
              <a:buNone/>
            </a:pPr>
            <a:r>
              <a:rPr lang="en-US" sz="2700" b="1" dirty="0">
                <a:solidFill>
                  <a:srgbClr val="21295C"/>
                </a:solidFill>
                <a:latin typeface="Cambria" pitchFamily="34" charset="0"/>
                <a:ea typeface="Cambria" pitchFamily="34" charset="-122"/>
                <a:cs typeface="Cambria" pitchFamily="34" charset="-120"/>
              </a:rPr>
              <a:t>Storage &amp; Data Management Layer</a:t>
            </a:r>
            <a:endParaRPr lang="en-US" sz="2700" dirty="0"/>
          </a:p>
        </p:txBody>
      </p:sp>
      <p:sp>
        <p:nvSpPr>
          <p:cNvPr id="5" name="Text 3"/>
          <p:cNvSpPr/>
          <p:nvPr/>
        </p:nvSpPr>
        <p:spPr>
          <a:xfrm>
            <a:off x="640080" y="1536192"/>
            <a:ext cx="10515600" cy="365760"/>
          </a:xfrm>
          <a:prstGeom prst="rect">
            <a:avLst/>
          </a:prstGeom>
          <a:noFill/>
          <a:ln/>
        </p:spPr>
        <p:txBody>
          <a:bodyPr wrap="square" rtlCol="0" anchor="ctr"/>
          <a:lstStyle/>
          <a:p>
            <a:pPr marL="0" indent="0" algn="ctr">
              <a:buNone/>
            </a:pPr>
            <a:r>
              <a:rPr lang="en-US" sz="2000" b="1" i="1" dirty="0">
                <a:solidFill>
                  <a:srgbClr val="5B6B77"/>
                </a:solidFill>
                <a:latin typeface="Times New Roman" panose="02020603050405020304" pitchFamily="18" charset="0"/>
                <a:ea typeface="Calibri" pitchFamily="34" charset="-122"/>
                <a:cs typeface="Times New Roman" panose="02020603050405020304" pitchFamily="18" charset="0"/>
              </a:rPr>
              <a:t>How data is organized, split, and protected across the data center</a:t>
            </a:r>
            <a:endParaRPr lang="en-US" sz="2000" b="1" dirty="0">
              <a:latin typeface="Times New Roman" panose="02020603050405020304" pitchFamily="18" charset="0"/>
              <a:cs typeface="Times New Roman" panose="02020603050405020304" pitchFamily="18" charset="0"/>
            </a:endParaRPr>
          </a:p>
        </p:txBody>
      </p:sp>
      <p:sp>
        <p:nvSpPr>
          <p:cNvPr id="6" name="Shape 4"/>
          <p:cNvSpPr/>
          <p:nvPr/>
        </p:nvSpPr>
        <p:spPr>
          <a:xfrm>
            <a:off x="640079" y="2788920"/>
            <a:ext cx="2407921" cy="3108960"/>
          </a:xfrm>
          <a:prstGeom prst="roundRect">
            <a:avLst>
              <a:gd name="adj" fmla="val 5714"/>
            </a:avLst>
          </a:prstGeom>
          <a:solidFill>
            <a:srgbClr val="EAF4FA"/>
          </a:solidFill>
          <a:ln w="19050">
            <a:solidFill>
              <a:srgbClr val="065A82"/>
            </a:solidFill>
            <a:prstDash val="solid"/>
          </a:ln>
        </p:spPr>
      </p:sp>
      <p:sp>
        <p:nvSpPr>
          <p:cNvPr id="7" name="Shape 5"/>
          <p:cNvSpPr/>
          <p:nvPr/>
        </p:nvSpPr>
        <p:spPr>
          <a:xfrm>
            <a:off x="640080" y="2788920"/>
            <a:ext cx="2331720" cy="457200"/>
          </a:xfrm>
          <a:prstGeom prst="roundRect">
            <a:avLst>
              <a:gd name="adj" fmla="val 20000"/>
            </a:avLst>
          </a:prstGeom>
          <a:solidFill>
            <a:srgbClr val="065A82"/>
          </a:solidFill>
          <a:ln/>
        </p:spPr>
      </p:sp>
      <p:sp>
        <p:nvSpPr>
          <p:cNvPr id="8" name="Shape 6"/>
          <p:cNvSpPr/>
          <p:nvPr/>
        </p:nvSpPr>
        <p:spPr>
          <a:xfrm>
            <a:off x="640080" y="3017520"/>
            <a:ext cx="2331720" cy="228600"/>
          </a:xfrm>
          <a:prstGeom prst="rect">
            <a:avLst/>
          </a:prstGeom>
          <a:solidFill>
            <a:srgbClr val="065A82"/>
          </a:solidFill>
          <a:ln/>
        </p:spPr>
      </p:sp>
      <p:sp>
        <p:nvSpPr>
          <p:cNvPr id="9" name="Text 7"/>
          <p:cNvSpPr/>
          <p:nvPr/>
        </p:nvSpPr>
        <p:spPr>
          <a:xfrm>
            <a:off x="777240" y="2788920"/>
            <a:ext cx="2057400" cy="457200"/>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5. Chunking</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80467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Large files are split into fixed-size blocks or objects for efficient handling.</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3017520" y="3461004"/>
            <a:ext cx="411480" cy="256032"/>
          </a:xfrm>
          <a:prstGeom prst="rightArrow">
            <a:avLst/>
          </a:prstGeom>
          <a:solidFill>
            <a:srgbClr val="1C7293"/>
          </a:solidFill>
          <a:ln/>
        </p:spPr>
      </p:sp>
      <p:sp>
        <p:nvSpPr>
          <p:cNvPr id="12" name="Shape 10"/>
          <p:cNvSpPr/>
          <p:nvPr/>
        </p:nvSpPr>
        <p:spPr>
          <a:xfrm>
            <a:off x="3474720" y="2788920"/>
            <a:ext cx="2354580" cy="3108960"/>
          </a:xfrm>
          <a:prstGeom prst="roundRect">
            <a:avLst>
              <a:gd name="adj" fmla="val 5714"/>
            </a:avLst>
          </a:prstGeom>
          <a:solidFill>
            <a:srgbClr val="EAF4FA"/>
          </a:solidFill>
          <a:ln w="19050">
            <a:solidFill>
              <a:srgbClr val="065A82"/>
            </a:solidFill>
            <a:prstDash val="solid"/>
          </a:ln>
        </p:spPr>
      </p:sp>
      <p:sp>
        <p:nvSpPr>
          <p:cNvPr id="13" name="Shape 11"/>
          <p:cNvSpPr/>
          <p:nvPr/>
        </p:nvSpPr>
        <p:spPr>
          <a:xfrm>
            <a:off x="3474720" y="2788920"/>
            <a:ext cx="2331720" cy="457200"/>
          </a:xfrm>
          <a:prstGeom prst="roundRect">
            <a:avLst>
              <a:gd name="adj" fmla="val 20000"/>
            </a:avLst>
          </a:prstGeom>
          <a:solidFill>
            <a:srgbClr val="065A82"/>
          </a:solidFill>
          <a:ln/>
        </p:spPr>
      </p:sp>
      <p:sp>
        <p:nvSpPr>
          <p:cNvPr id="14" name="Shape 12"/>
          <p:cNvSpPr/>
          <p:nvPr/>
        </p:nvSpPr>
        <p:spPr>
          <a:xfrm>
            <a:off x="3474720" y="3017520"/>
            <a:ext cx="2331720" cy="228600"/>
          </a:xfrm>
          <a:prstGeom prst="rect">
            <a:avLst/>
          </a:prstGeom>
          <a:solidFill>
            <a:srgbClr val="065A82"/>
          </a:solidFill>
          <a:ln/>
        </p:spPr>
      </p:sp>
      <p:sp>
        <p:nvSpPr>
          <p:cNvPr id="15" name="Text 13"/>
          <p:cNvSpPr/>
          <p:nvPr/>
        </p:nvSpPr>
        <p:spPr>
          <a:xfrm>
            <a:off x="3611880" y="2681478"/>
            <a:ext cx="2057400" cy="672084"/>
          </a:xfrm>
          <a:prstGeom prst="rect">
            <a:avLst/>
          </a:prstGeom>
          <a:noFill/>
          <a:ln/>
        </p:spPr>
        <p:txBody>
          <a:bodyPr wrap="square" rtlCol="0" anchor="ctr"/>
          <a:lstStyle/>
          <a:p>
            <a:pPr marL="0" indent="0" algn="ctr">
              <a:buNone/>
            </a:pPr>
            <a:r>
              <a:rPr lang="en-US" b="1" dirty="0">
                <a:solidFill>
                  <a:srgbClr val="FFFFFF"/>
                </a:solidFill>
                <a:latin typeface="Times New Roman" panose="02020603050405020304" pitchFamily="18" charset="0"/>
                <a:ea typeface="Cambria" pitchFamily="34" charset="-122"/>
                <a:cs typeface="Times New Roman" panose="02020603050405020304" pitchFamily="18" charset="0"/>
              </a:rPr>
              <a:t>6. Metadata Server</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363931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Records file names, chunk locations, versions, and access permissions.</a:t>
            </a:r>
            <a:endParaRPr lang="en-US" sz="2000" dirty="0">
              <a:latin typeface="Times New Roman" panose="02020603050405020304" pitchFamily="18" charset="0"/>
              <a:cs typeface="Times New Roman" panose="02020603050405020304" pitchFamily="18" charset="0"/>
            </a:endParaRPr>
          </a:p>
        </p:txBody>
      </p:sp>
      <p:sp>
        <p:nvSpPr>
          <p:cNvPr id="17" name="Shape 15"/>
          <p:cNvSpPr/>
          <p:nvPr/>
        </p:nvSpPr>
        <p:spPr>
          <a:xfrm>
            <a:off x="5852160" y="3461004"/>
            <a:ext cx="411480" cy="256032"/>
          </a:xfrm>
          <a:prstGeom prst="rightArrow">
            <a:avLst/>
          </a:prstGeom>
          <a:solidFill>
            <a:srgbClr val="1C7293"/>
          </a:solidFill>
          <a:ln/>
        </p:spPr>
      </p:sp>
      <p:sp>
        <p:nvSpPr>
          <p:cNvPr id="18" name="Shape 16"/>
          <p:cNvSpPr/>
          <p:nvPr/>
        </p:nvSpPr>
        <p:spPr>
          <a:xfrm>
            <a:off x="6309360" y="2788920"/>
            <a:ext cx="2377440" cy="3108960"/>
          </a:xfrm>
          <a:prstGeom prst="roundRect">
            <a:avLst>
              <a:gd name="adj" fmla="val 5714"/>
            </a:avLst>
          </a:prstGeom>
          <a:solidFill>
            <a:srgbClr val="EAF4FA"/>
          </a:solidFill>
          <a:ln w="19050">
            <a:solidFill>
              <a:srgbClr val="1C7293"/>
            </a:solidFill>
            <a:prstDash val="solid"/>
          </a:ln>
        </p:spPr>
        <p:txBody>
          <a:bodyPr/>
          <a:lstStyle/>
          <a:p>
            <a:endParaRPr lang="en-IN" dirty="0"/>
          </a:p>
        </p:txBody>
      </p:sp>
      <p:sp>
        <p:nvSpPr>
          <p:cNvPr id="19" name="Shape 17"/>
          <p:cNvSpPr/>
          <p:nvPr/>
        </p:nvSpPr>
        <p:spPr>
          <a:xfrm>
            <a:off x="6309360" y="2788920"/>
            <a:ext cx="2331720" cy="457200"/>
          </a:xfrm>
          <a:prstGeom prst="roundRect">
            <a:avLst>
              <a:gd name="adj" fmla="val 20000"/>
            </a:avLst>
          </a:prstGeom>
          <a:solidFill>
            <a:srgbClr val="1C7293"/>
          </a:solidFill>
          <a:ln/>
        </p:spPr>
      </p:sp>
      <p:sp>
        <p:nvSpPr>
          <p:cNvPr id="20" name="Shape 18"/>
          <p:cNvSpPr/>
          <p:nvPr/>
        </p:nvSpPr>
        <p:spPr>
          <a:xfrm>
            <a:off x="6309360" y="3017520"/>
            <a:ext cx="2331720" cy="228600"/>
          </a:xfrm>
          <a:prstGeom prst="rect">
            <a:avLst/>
          </a:prstGeom>
          <a:solidFill>
            <a:srgbClr val="1C7293"/>
          </a:solidFill>
          <a:ln/>
        </p:spPr>
      </p:sp>
      <p:sp>
        <p:nvSpPr>
          <p:cNvPr id="21" name="Text 19"/>
          <p:cNvSpPr/>
          <p:nvPr/>
        </p:nvSpPr>
        <p:spPr>
          <a:xfrm>
            <a:off x="6446520" y="2788920"/>
            <a:ext cx="2057400" cy="457200"/>
          </a:xfrm>
          <a:prstGeom prst="rect">
            <a:avLst/>
          </a:prstGeom>
          <a:noFill/>
          <a:ln/>
        </p:spPr>
        <p:txBody>
          <a:bodyPr wrap="square" rtlCol="0" anchor="ctr"/>
          <a:lstStyle/>
          <a:p>
            <a:pPr marL="0" indent="0" algn="ctr">
              <a:buNone/>
            </a:pPr>
            <a:r>
              <a:rPr lang="en-US" b="1" dirty="0">
                <a:solidFill>
                  <a:srgbClr val="FFFFFF"/>
                </a:solidFill>
                <a:latin typeface="Times New Roman" panose="02020603050405020304" pitchFamily="18" charset="0"/>
                <a:ea typeface="Cambria" pitchFamily="34" charset="-122"/>
                <a:cs typeface="Times New Roman" panose="02020603050405020304" pitchFamily="18" charset="0"/>
              </a:rPr>
              <a:t>7. Replication /</a:t>
            </a:r>
            <a:endParaRPr lang="en-US" dirty="0">
              <a:latin typeface="Times New Roman" panose="02020603050405020304" pitchFamily="18" charset="0"/>
              <a:cs typeface="Times New Roman" panose="02020603050405020304" pitchFamily="18" charset="0"/>
            </a:endParaRPr>
          </a:p>
          <a:p>
            <a:pPr marL="0" indent="0" algn="ctr">
              <a:buNone/>
            </a:pPr>
            <a:r>
              <a:rPr lang="en-US" sz="1600" b="1" dirty="0">
                <a:solidFill>
                  <a:srgbClr val="FFFFFF"/>
                </a:solidFill>
                <a:latin typeface="Times New Roman" panose="02020603050405020304" pitchFamily="18" charset="0"/>
                <a:ea typeface="Cambria" pitchFamily="34" charset="-122"/>
                <a:cs typeface="Times New Roman" panose="02020603050405020304" pitchFamily="18" charset="0"/>
              </a:rPr>
              <a:t>Erasure Coding</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647395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Chunks are duplicated or coded across nodes and racks for fault tolerance.</a:t>
            </a:r>
            <a:endParaRPr lang="en-US" sz="2000" dirty="0">
              <a:latin typeface="Times New Roman" panose="02020603050405020304" pitchFamily="18" charset="0"/>
              <a:cs typeface="Times New Roman" panose="02020603050405020304" pitchFamily="18" charset="0"/>
            </a:endParaRPr>
          </a:p>
        </p:txBody>
      </p:sp>
      <p:sp>
        <p:nvSpPr>
          <p:cNvPr id="23" name="Shape 21"/>
          <p:cNvSpPr/>
          <p:nvPr/>
        </p:nvSpPr>
        <p:spPr>
          <a:xfrm>
            <a:off x="8686800" y="3461004"/>
            <a:ext cx="411480" cy="256032"/>
          </a:xfrm>
          <a:prstGeom prst="rightArrow">
            <a:avLst/>
          </a:prstGeom>
          <a:solidFill>
            <a:srgbClr val="1C7293"/>
          </a:solidFill>
          <a:ln/>
        </p:spPr>
      </p:sp>
      <p:sp>
        <p:nvSpPr>
          <p:cNvPr id="24" name="Shape 22"/>
          <p:cNvSpPr/>
          <p:nvPr/>
        </p:nvSpPr>
        <p:spPr>
          <a:xfrm>
            <a:off x="9144000" y="2788920"/>
            <a:ext cx="2587752" cy="3108960"/>
          </a:xfrm>
          <a:prstGeom prst="roundRect">
            <a:avLst>
              <a:gd name="adj" fmla="val 5714"/>
            </a:avLst>
          </a:prstGeom>
          <a:solidFill>
            <a:srgbClr val="EAF4FA"/>
          </a:solidFill>
          <a:ln w="19050">
            <a:solidFill>
              <a:srgbClr val="1C7293"/>
            </a:solidFill>
            <a:prstDash val="solid"/>
          </a:ln>
        </p:spPr>
      </p:sp>
      <p:sp>
        <p:nvSpPr>
          <p:cNvPr id="25" name="Shape 23"/>
          <p:cNvSpPr/>
          <p:nvPr/>
        </p:nvSpPr>
        <p:spPr>
          <a:xfrm>
            <a:off x="9144000" y="2788920"/>
            <a:ext cx="2331720" cy="457200"/>
          </a:xfrm>
          <a:prstGeom prst="roundRect">
            <a:avLst>
              <a:gd name="adj" fmla="val 20000"/>
            </a:avLst>
          </a:prstGeom>
          <a:solidFill>
            <a:srgbClr val="1C7293"/>
          </a:solidFill>
          <a:ln/>
        </p:spPr>
      </p:sp>
      <p:sp>
        <p:nvSpPr>
          <p:cNvPr id="26" name="Shape 24"/>
          <p:cNvSpPr/>
          <p:nvPr/>
        </p:nvSpPr>
        <p:spPr>
          <a:xfrm>
            <a:off x="9144000" y="3017520"/>
            <a:ext cx="2331720" cy="228600"/>
          </a:xfrm>
          <a:prstGeom prst="rect">
            <a:avLst/>
          </a:prstGeom>
          <a:solidFill>
            <a:srgbClr val="1C7293"/>
          </a:solidFill>
          <a:ln/>
        </p:spPr>
      </p:sp>
      <p:sp>
        <p:nvSpPr>
          <p:cNvPr id="27" name="Text 25"/>
          <p:cNvSpPr/>
          <p:nvPr/>
        </p:nvSpPr>
        <p:spPr>
          <a:xfrm>
            <a:off x="9281160" y="2788920"/>
            <a:ext cx="2057400" cy="457200"/>
          </a:xfrm>
          <a:prstGeom prst="rect">
            <a:avLst/>
          </a:prstGeom>
          <a:noFill/>
          <a:ln/>
        </p:spPr>
        <p:txBody>
          <a:bodyPr wrap="square" rtlCol="0" anchor="ctr"/>
          <a:lstStyle/>
          <a:p>
            <a:pPr marL="0" indent="0" algn="ctr">
              <a:buNone/>
            </a:pPr>
            <a:r>
              <a:rPr lang="en-US" sz="1600" b="1" dirty="0">
                <a:solidFill>
                  <a:srgbClr val="FFFFFF"/>
                </a:solidFill>
                <a:latin typeface="Times New Roman" panose="02020603050405020304" pitchFamily="18" charset="0"/>
                <a:ea typeface="Cambria" pitchFamily="34" charset="-122"/>
                <a:cs typeface="Times New Roman" panose="02020603050405020304" pitchFamily="18" charset="0"/>
              </a:rPr>
              <a:t>8. Distributed Storage Nodes</a:t>
            </a:r>
            <a:endParaRPr lang="en-US" sz="1600" dirty="0">
              <a:latin typeface="Times New Roman" panose="02020603050405020304" pitchFamily="18" charset="0"/>
              <a:cs typeface="Times New Roman" panose="02020603050405020304" pitchFamily="18" charset="0"/>
            </a:endParaRPr>
          </a:p>
        </p:txBody>
      </p:sp>
      <p:sp>
        <p:nvSpPr>
          <p:cNvPr id="28" name="Text 26"/>
          <p:cNvSpPr/>
          <p:nvPr/>
        </p:nvSpPr>
        <p:spPr>
          <a:xfrm>
            <a:off x="930859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Data physically resides on disks/SSDs across servers in one or more data centers.</a:t>
            </a:r>
            <a:endParaRPr lang="en-US" sz="2000" dirty="0">
              <a:latin typeface="Times New Roman" panose="02020603050405020304" pitchFamily="18" charset="0"/>
              <a:cs typeface="Times New Roman" panose="02020603050405020304" pitchFamily="18" charset="0"/>
            </a:endParaRPr>
          </a:p>
        </p:txBody>
      </p:sp>
      <p:sp>
        <p:nvSpPr>
          <p:cNvPr id="31" name="Text 29"/>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Understanding Cloud Storage Mechanisms</a:t>
            </a:r>
            <a:endParaRPr lang="en-US" sz="1000" dirty="0"/>
          </a:p>
        </p:txBody>
      </p:sp>
      <p:sp>
        <p:nvSpPr>
          <p:cNvPr id="32" name="Text 3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2377440" cy="365760"/>
          </a:xfrm>
          <a:prstGeom prst="roundRect">
            <a:avLst>
              <a:gd name="adj" fmla="val 20000"/>
            </a:avLst>
          </a:prstGeom>
          <a:solidFill>
            <a:srgbClr val="1C7293"/>
          </a:solidFill>
          <a:ln/>
        </p:spPr>
      </p:sp>
      <p:sp>
        <p:nvSpPr>
          <p:cNvPr id="3" name="Text 1"/>
          <p:cNvSpPr/>
          <p:nvPr/>
        </p:nvSpPr>
        <p:spPr>
          <a:xfrm>
            <a:off x="640080" y="502920"/>
            <a:ext cx="2331720" cy="365760"/>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METHODOLOGY  ·  STAGE 3 OF 3</a:t>
            </a:r>
            <a:endParaRPr lang="en-US" sz="1100" dirty="0"/>
          </a:p>
        </p:txBody>
      </p:sp>
      <p:sp>
        <p:nvSpPr>
          <p:cNvPr id="4" name="Text 2"/>
          <p:cNvSpPr/>
          <p:nvPr/>
        </p:nvSpPr>
        <p:spPr>
          <a:xfrm>
            <a:off x="640080" y="960120"/>
            <a:ext cx="10515600" cy="594360"/>
          </a:xfrm>
          <a:prstGeom prst="rect">
            <a:avLst/>
          </a:prstGeom>
          <a:noFill/>
          <a:ln/>
        </p:spPr>
        <p:txBody>
          <a:bodyPr wrap="square" rtlCol="0" anchor="ctr"/>
          <a:lstStyle/>
          <a:p>
            <a:pPr marL="0" indent="0" algn="ctr">
              <a:buNone/>
            </a:pPr>
            <a:r>
              <a:rPr lang="en-US" sz="2700" b="1" dirty="0">
                <a:solidFill>
                  <a:srgbClr val="21295C"/>
                </a:solidFill>
                <a:latin typeface="Cambria" pitchFamily="34" charset="0"/>
                <a:ea typeface="Cambria" pitchFamily="34" charset="-122"/>
                <a:cs typeface="Cambria" pitchFamily="34" charset="-120"/>
              </a:rPr>
              <a:t>Security &amp; Retrieval Layer</a:t>
            </a:r>
            <a:endParaRPr lang="en-US" sz="2700" dirty="0"/>
          </a:p>
        </p:txBody>
      </p:sp>
      <p:sp>
        <p:nvSpPr>
          <p:cNvPr id="5" name="Text 3"/>
          <p:cNvSpPr/>
          <p:nvPr/>
        </p:nvSpPr>
        <p:spPr>
          <a:xfrm>
            <a:off x="640080" y="1623060"/>
            <a:ext cx="10515600" cy="365760"/>
          </a:xfrm>
          <a:prstGeom prst="rect">
            <a:avLst/>
          </a:prstGeom>
          <a:noFill/>
          <a:ln/>
        </p:spPr>
        <p:txBody>
          <a:bodyPr wrap="square" rtlCol="0" anchor="ctr"/>
          <a:lstStyle/>
          <a:p>
            <a:pPr marL="0" indent="0" algn="ctr">
              <a:buNone/>
            </a:pPr>
            <a:r>
              <a:rPr lang="en-US" sz="2000" b="1" i="1" dirty="0">
                <a:solidFill>
                  <a:srgbClr val="5B6B77"/>
                </a:solidFill>
                <a:latin typeface="Times New Roman" panose="02020603050405020304" pitchFamily="18" charset="0"/>
                <a:ea typeface="Calibri" pitchFamily="34" charset="-122"/>
                <a:cs typeface="Times New Roman" panose="02020603050405020304" pitchFamily="18" charset="0"/>
              </a:rPr>
              <a:t>How stored data is protected and returned to the user</a:t>
            </a:r>
            <a:endParaRPr lang="en-US" sz="2000" b="1" dirty="0">
              <a:latin typeface="Times New Roman" panose="02020603050405020304" pitchFamily="18" charset="0"/>
              <a:cs typeface="Times New Roman" panose="02020603050405020304" pitchFamily="18" charset="0"/>
            </a:endParaRPr>
          </a:p>
        </p:txBody>
      </p:sp>
      <p:sp>
        <p:nvSpPr>
          <p:cNvPr id="6" name="Shape 4"/>
          <p:cNvSpPr/>
          <p:nvPr/>
        </p:nvSpPr>
        <p:spPr>
          <a:xfrm>
            <a:off x="457201" y="2657475"/>
            <a:ext cx="2590800" cy="2900363"/>
          </a:xfrm>
          <a:prstGeom prst="roundRect">
            <a:avLst>
              <a:gd name="adj" fmla="val 5714"/>
            </a:avLst>
          </a:prstGeom>
          <a:solidFill>
            <a:srgbClr val="EAF4FA"/>
          </a:solidFill>
          <a:ln w="19050">
            <a:solidFill>
              <a:srgbClr val="065A82"/>
            </a:solidFill>
            <a:prstDash val="solid"/>
          </a:ln>
        </p:spPr>
      </p:sp>
      <p:sp>
        <p:nvSpPr>
          <p:cNvPr id="7" name="Shape 5"/>
          <p:cNvSpPr/>
          <p:nvPr/>
        </p:nvSpPr>
        <p:spPr>
          <a:xfrm>
            <a:off x="640080" y="2788920"/>
            <a:ext cx="2331720" cy="457200"/>
          </a:xfrm>
          <a:prstGeom prst="roundRect">
            <a:avLst>
              <a:gd name="adj" fmla="val 20000"/>
            </a:avLst>
          </a:prstGeom>
          <a:solidFill>
            <a:srgbClr val="065A82"/>
          </a:solidFill>
          <a:ln/>
        </p:spPr>
      </p:sp>
      <p:sp>
        <p:nvSpPr>
          <p:cNvPr id="8" name="Shape 6"/>
          <p:cNvSpPr/>
          <p:nvPr/>
        </p:nvSpPr>
        <p:spPr>
          <a:xfrm>
            <a:off x="640080" y="3017520"/>
            <a:ext cx="2331720" cy="228600"/>
          </a:xfrm>
          <a:prstGeom prst="rect">
            <a:avLst/>
          </a:prstGeom>
          <a:solidFill>
            <a:srgbClr val="065A82"/>
          </a:solidFill>
          <a:ln/>
        </p:spPr>
        <p:txBody>
          <a:bodyPr/>
          <a:lstStyle/>
          <a:p>
            <a:endParaRPr lang="en-IN" dirty="0"/>
          </a:p>
        </p:txBody>
      </p:sp>
      <p:sp>
        <p:nvSpPr>
          <p:cNvPr id="9" name="Text 7"/>
          <p:cNvSpPr/>
          <p:nvPr/>
        </p:nvSpPr>
        <p:spPr>
          <a:xfrm>
            <a:off x="722376" y="2788920"/>
            <a:ext cx="2057400" cy="457200"/>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9. Encryption</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80467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Data is encrypted at rest (AES) and in transit (TLS) to preserve confidentiality.</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3017520" y="3461004"/>
            <a:ext cx="411480" cy="256032"/>
          </a:xfrm>
          <a:prstGeom prst="rightArrow">
            <a:avLst/>
          </a:prstGeom>
          <a:solidFill>
            <a:srgbClr val="1C7293"/>
          </a:solidFill>
          <a:ln/>
        </p:spPr>
      </p:sp>
      <p:sp>
        <p:nvSpPr>
          <p:cNvPr id="12" name="Shape 10"/>
          <p:cNvSpPr/>
          <p:nvPr/>
        </p:nvSpPr>
        <p:spPr>
          <a:xfrm>
            <a:off x="3395472" y="2657475"/>
            <a:ext cx="2456688" cy="2900363"/>
          </a:xfrm>
          <a:prstGeom prst="roundRect">
            <a:avLst>
              <a:gd name="adj" fmla="val 5714"/>
            </a:avLst>
          </a:prstGeom>
          <a:solidFill>
            <a:srgbClr val="EAF4FA"/>
          </a:solidFill>
          <a:ln w="19050">
            <a:solidFill>
              <a:srgbClr val="065A82"/>
            </a:solidFill>
            <a:prstDash val="solid"/>
          </a:ln>
        </p:spPr>
      </p:sp>
      <p:sp>
        <p:nvSpPr>
          <p:cNvPr id="13" name="Shape 11"/>
          <p:cNvSpPr/>
          <p:nvPr/>
        </p:nvSpPr>
        <p:spPr>
          <a:xfrm>
            <a:off x="3474720" y="2788920"/>
            <a:ext cx="2331720" cy="457200"/>
          </a:xfrm>
          <a:prstGeom prst="roundRect">
            <a:avLst>
              <a:gd name="adj" fmla="val 20000"/>
            </a:avLst>
          </a:prstGeom>
          <a:solidFill>
            <a:srgbClr val="065A82"/>
          </a:solidFill>
          <a:ln/>
        </p:spPr>
      </p:sp>
      <p:sp>
        <p:nvSpPr>
          <p:cNvPr id="14" name="Shape 12"/>
          <p:cNvSpPr/>
          <p:nvPr/>
        </p:nvSpPr>
        <p:spPr>
          <a:xfrm>
            <a:off x="3474720" y="3017520"/>
            <a:ext cx="2331720" cy="228600"/>
          </a:xfrm>
          <a:prstGeom prst="rect">
            <a:avLst/>
          </a:prstGeom>
          <a:solidFill>
            <a:srgbClr val="065A82"/>
          </a:solidFill>
          <a:ln/>
        </p:spPr>
      </p:sp>
      <p:sp>
        <p:nvSpPr>
          <p:cNvPr id="15" name="Text 13"/>
          <p:cNvSpPr/>
          <p:nvPr/>
        </p:nvSpPr>
        <p:spPr>
          <a:xfrm>
            <a:off x="3611880" y="2788920"/>
            <a:ext cx="2057400" cy="457200"/>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10. Access Control</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363931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Policies (IAM roles, ACLs) verify each retrieval request is authorized.</a:t>
            </a:r>
            <a:endParaRPr lang="en-US" sz="2000" dirty="0">
              <a:latin typeface="Times New Roman" panose="02020603050405020304" pitchFamily="18" charset="0"/>
              <a:cs typeface="Times New Roman" panose="02020603050405020304" pitchFamily="18" charset="0"/>
            </a:endParaRPr>
          </a:p>
        </p:txBody>
      </p:sp>
      <p:sp>
        <p:nvSpPr>
          <p:cNvPr id="17" name="Shape 15"/>
          <p:cNvSpPr/>
          <p:nvPr/>
        </p:nvSpPr>
        <p:spPr>
          <a:xfrm>
            <a:off x="5852160" y="3461004"/>
            <a:ext cx="411480" cy="256032"/>
          </a:xfrm>
          <a:prstGeom prst="rightArrow">
            <a:avLst/>
          </a:prstGeom>
          <a:solidFill>
            <a:srgbClr val="1C7293"/>
          </a:solidFill>
          <a:ln/>
        </p:spPr>
      </p:sp>
      <p:sp>
        <p:nvSpPr>
          <p:cNvPr id="18" name="Shape 16"/>
          <p:cNvSpPr/>
          <p:nvPr/>
        </p:nvSpPr>
        <p:spPr>
          <a:xfrm>
            <a:off x="6263640" y="2657475"/>
            <a:ext cx="2377440" cy="2900363"/>
          </a:xfrm>
          <a:prstGeom prst="roundRect">
            <a:avLst>
              <a:gd name="adj" fmla="val 5714"/>
            </a:avLst>
          </a:prstGeom>
          <a:solidFill>
            <a:srgbClr val="EAF4FA"/>
          </a:solidFill>
          <a:ln w="19050">
            <a:solidFill>
              <a:srgbClr val="1C7293"/>
            </a:solidFill>
            <a:prstDash val="solid"/>
          </a:ln>
        </p:spPr>
      </p:sp>
      <p:sp>
        <p:nvSpPr>
          <p:cNvPr id="19" name="Shape 17"/>
          <p:cNvSpPr/>
          <p:nvPr/>
        </p:nvSpPr>
        <p:spPr>
          <a:xfrm>
            <a:off x="6309360" y="2788920"/>
            <a:ext cx="2331720" cy="457200"/>
          </a:xfrm>
          <a:prstGeom prst="roundRect">
            <a:avLst>
              <a:gd name="adj" fmla="val 20000"/>
            </a:avLst>
          </a:prstGeom>
          <a:solidFill>
            <a:srgbClr val="1C7293"/>
          </a:solidFill>
          <a:ln/>
        </p:spPr>
      </p:sp>
      <p:sp>
        <p:nvSpPr>
          <p:cNvPr id="20" name="Shape 18"/>
          <p:cNvSpPr/>
          <p:nvPr/>
        </p:nvSpPr>
        <p:spPr>
          <a:xfrm>
            <a:off x="6309360" y="3017520"/>
            <a:ext cx="2331720" cy="228600"/>
          </a:xfrm>
          <a:prstGeom prst="rect">
            <a:avLst/>
          </a:prstGeom>
          <a:solidFill>
            <a:srgbClr val="1C7293"/>
          </a:solidFill>
          <a:ln/>
        </p:spPr>
      </p:sp>
      <p:sp>
        <p:nvSpPr>
          <p:cNvPr id="21" name="Text 19"/>
          <p:cNvSpPr/>
          <p:nvPr/>
        </p:nvSpPr>
        <p:spPr>
          <a:xfrm>
            <a:off x="6446520" y="2788920"/>
            <a:ext cx="2057400" cy="457200"/>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11. Reassembly</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647395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Metadata server locates chunks; system reassembles the original file.</a:t>
            </a:r>
            <a:endParaRPr lang="en-US" sz="2000" dirty="0">
              <a:latin typeface="Times New Roman" panose="02020603050405020304" pitchFamily="18" charset="0"/>
              <a:cs typeface="Times New Roman" panose="02020603050405020304" pitchFamily="18" charset="0"/>
            </a:endParaRPr>
          </a:p>
        </p:txBody>
      </p:sp>
      <p:sp>
        <p:nvSpPr>
          <p:cNvPr id="23" name="Shape 21"/>
          <p:cNvSpPr/>
          <p:nvPr/>
        </p:nvSpPr>
        <p:spPr>
          <a:xfrm>
            <a:off x="8686800" y="3461004"/>
            <a:ext cx="411480" cy="256032"/>
          </a:xfrm>
          <a:prstGeom prst="rightArrow">
            <a:avLst/>
          </a:prstGeom>
          <a:solidFill>
            <a:srgbClr val="1C7293"/>
          </a:solidFill>
          <a:ln/>
        </p:spPr>
      </p:sp>
      <p:sp>
        <p:nvSpPr>
          <p:cNvPr id="24" name="Shape 22"/>
          <p:cNvSpPr/>
          <p:nvPr/>
        </p:nvSpPr>
        <p:spPr>
          <a:xfrm>
            <a:off x="9098280" y="2657475"/>
            <a:ext cx="2377440" cy="2786063"/>
          </a:xfrm>
          <a:prstGeom prst="roundRect">
            <a:avLst>
              <a:gd name="adj" fmla="val 5714"/>
            </a:avLst>
          </a:prstGeom>
          <a:solidFill>
            <a:srgbClr val="EAF4FA"/>
          </a:solidFill>
          <a:ln w="19050">
            <a:solidFill>
              <a:srgbClr val="1C7293"/>
            </a:solidFill>
            <a:prstDash val="solid"/>
          </a:ln>
        </p:spPr>
      </p:sp>
      <p:sp>
        <p:nvSpPr>
          <p:cNvPr id="25" name="Shape 23"/>
          <p:cNvSpPr/>
          <p:nvPr/>
        </p:nvSpPr>
        <p:spPr>
          <a:xfrm>
            <a:off x="9144000" y="2788920"/>
            <a:ext cx="2331720" cy="457200"/>
          </a:xfrm>
          <a:prstGeom prst="roundRect">
            <a:avLst>
              <a:gd name="adj" fmla="val 20000"/>
            </a:avLst>
          </a:prstGeom>
          <a:solidFill>
            <a:srgbClr val="1C7293"/>
          </a:solidFill>
          <a:ln/>
        </p:spPr>
      </p:sp>
      <p:sp>
        <p:nvSpPr>
          <p:cNvPr id="26" name="Shape 24"/>
          <p:cNvSpPr/>
          <p:nvPr/>
        </p:nvSpPr>
        <p:spPr>
          <a:xfrm>
            <a:off x="9144000" y="3017520"/>
            <a:ext cx="2331720" cy="228600"/>
          </a:xfrm>
          <a:prstGeom prst="rect">
            <a:avLst/>
          </a:prstGeom>
          <a:solidFill>
            <a:srgbClr val="1C7293"/>
          </a:solidFill>
          <a:ln/>
        </p:spPr>
      </p:sp>
      <p:sp>
        <p:nvSpPr>
          <p:cNvPr id="27" name="Text 25"/>
          <p:cNvSpPr/>
          <p:nvPr/>
        </p:nvSpPr>
        <p:spPr>
          <a:xfrm>
            <a:off x="9281160" y="2788920"/>
            <a:ext cx="2057400" cy="457200"/>
          </a:xfrm>
          <a:prstGeom prst="rect">
            <a:avLst/>
          </a:prstGeom>
          <a:noFill/>
          <a:ln/>
        </p:spPr>
        <p:txBody>
          <a:bodyPr wrap="square" rtlCol="0" anchor="ctr"/>
          <a:lstStyle/>
          <a:p>
            <a:pPr marL="0" indent="0" algn="ctr">
              <a:buNone/>
            </a:pPr>
            <a:r>
              <a:rPr lang="en-US" b="1" dirty="0">
                <a:solidFill>
                  <a:srgbClr val="FFFFFF"/>
                </a:solidFill>
                <a:latin typeface="Times New Roman" panose="02020603050405020304" pitchFamily="18" charset="0"/>
                <a:ea typeface="Cambria" pitchFamily="34" charset="-122"/>
                <a:cs typeface="Times New Roman" panose="02020603050405020304" pitchFamily="18" charset="0"/>
              </a:rPr>
              <a:t>12. Delivery to User</a:t>
            </a:r>
            <a:endParaRPr lang="en-US" dirty="0">
              <a:latin typeface="Times New Roman" panose="02020603050405020304" pitchFamily="18" charset="0"/>
              <a:cs typeface="Times New Roman" panose="02020603050405020304" pitchFamily="18" charset="0"/>
            </a:endParaRPr>
          </a:p>
        </p:txBody>
      </p:sp>
      <p:sp>
        <p:nvSpPr>
          <p:cNvPr id="28" name="Text 26"/>
          <p:cNvSpPr/>
          <p:nvPr/>
        </p:nvSpPr>
        <p:spPr>
          <a:xfrm>
            <a:off x="9308592" y="3337560"/>
            <a:ext cx="2002536" cy="914400"/>
          </a:xfrm>
          <a:prstGeom prst="rect">
            <a:avLst/>
          </a:prstGeom>
          <a:noFill/>
          <a:ln/>
        </p:spPr>
        <p:txBody>
          <a:bodyPr wrap="square" rtlCol="0" anchor="t"/>
          <a:lstStyle/>
          <a:p>
            <a:pPr marL="0" indent="0">
              <a:lnSpc>
                <a:spcPct val="115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File is streamed back through the CDN / client interface to the requester.</a:t>
            </a:r>
            <a:endParaRPr lang="en-US" sz="2000" dirty="0">
              <a:latin typeface="Times New Roman" panose="02020603050405020304" pitchFamily="18" charset="0"/>
              <a:cs typeface="Times New Roman" panose="02020603050405020304" pitchFamily="18" charset="0"/>
            </a:endParaRPr>
          </a:p>
        </p:txBody>
      </p:sp>
      <p:sp>
        <p:nvSpPr>
          <p:cNvPr id="31" name="Text 29"/>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Understanding Cloud Storage Mechanisms</a:t>
            </a:r>
            <a:endParaRPr lang="en-US" sz="1000" dirty="0"/>
          </a:p>
        </p:txBody>
      </p:sp>
      <p:sp>
        <p:nvSpPr>
          <p:cNvPr id="32" name="Text 3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2377440" cy="365760"/>
          </a:xfrm>
          <a:prstGeom prst="roundRect">
            <a:avLst>
              <a:gd name="adj" fmla="val 20000"/>
            </a:avLst>
          </a:prstGeom>
          <a:solidFill>
            <a:srgbClr val="1C7293"/>
          </a:solidFill>
          <a:ln/>
        </p:spPr>
      </p:sp>
      <p:sp>
        <p:nvSpPr>
          <p:cNvPr id="3" name="Text 1"/>
          <p:cNvSpPr/>
          <p:nvPr/>
        </p:nvSpPr>
        <p:spPr>
          <a:xfrm>
            <a:off x="640080" y="502920"/>
            <a:ext cx="2377440" cy="365760"/>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REAL-WORLD USE CASE</a:t>
            </a:r>
            <a:endParaRPr lang="en-US" sz="1100" dirty="0"/>
          </a:p>
        </p:txBody>
      </p:sp>
      <p:sp>
        <p:nvSpPr>
          <p:cNvPr id="4" name="Text 2"/>
          <p:cNvSpPr/>
          <p:nvPr/>
        </p:nvSpPr>
        <p:spPr>
          <a:xfrm>
            <a:off x="640080" y="960120"/>
            <a:ext cx="10698480" cy="64008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Google Drive: Cloud Storage Mechanisms in Action</a:t>
            </a:r>
            <a:endParaRPr lang="en-US" sz="2600" dirty="0"/>
          </a:p>
        </p:txBody>
      </p:sp>
      <p:sp>
        <p:nvSpPr>
          <p:cNvPr id="5" name="Shape 3"/>
          <p:cNvSpPr/>
          <p:nvPr/>
        </p:nvSpPr>
        <p:spPr>
          <a:xfrm>
            <a:off x="640080" y="1783080"/>
            <a:ext cx="5120640" cy="4206240"/>
          </a:xfrm>
          <a:prstGeom prst="roundRect">
            <a:avLst>
              <a:gd name="adj" fmla="val 2174"/>
            </a:avLst>
          </a:prstGeom>
          <a:solidFill>
            <a:srgbClr val="EAF4FA"/>
          </a:solidFill>
          <a:ln/>
        </p:spPr>
      </p:sp>
      <p:sp>
        <p:nvSpPr>
          <p:cNvPr id="7" name="Text 5"/>
          <p:cNvSpPr/>
          <p:nvPr/>
        </p:nvSpPr>
        <p:spPr>
          <a:xfrm>
            <a:off x="914400" y="2752344"/>
            <a:ext cx="4572000" cy="2286000"/>
          </a:xfrm>
          <a:prstGeom prst="rect">
            <a:avLst/>
          </a:prstGeom>
          <a:noFill/>
          <a:ln/>
        </p:spPr>
        <p:txBody>
          <a:bodyPr wrap="square" rtlCol="0" anchor="ctr"/>
          <a:lstStyle/>
          <a:p>
            <a:pPr marL="0" indent="0">
              <a:lnSpc>
                <a:spcPct val="130000"/>
              </a:lnSpc>
              <a:buNone/>
            </a:pPr>
            <a:r>
              <a:rPr lang="en-US" sz="2000" dirty="0">
                <a:solidFill>
                  <a:srgbClr val="333333"/>
                </a:solidFill>
                <a:latin typeface="Times New Roman" panose="02020603050405020304" pitchFamily="18" charset="0"/>
                <a:ea typeface="Calibri" pitchFamily="34" charset="-122"/>
                <a:cs typeface="Times New Roman" panose="02020603050405020304" pitchFamily="18" charset="0"/>
              </a:rPr>
              <a:t>A student uploads a project report from their phone. Google Drive's client app chunks the file, authenticates the account, and sends it over HTTPS to Google's storage backend. The file is split, replicated across multiple data centers, and indexed by a metadata service — enabling instant sync to the student's laptop and shared access for classmates, from anywhere in the world.</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6126480" y="1828800"/>
            <a:ext cx="5394960" cy="658368"/>
          </a:xfrm>
          <a:prstGeom prst="roundRect">
            <a:avLst>
              <a:gd name="adj" fmla="val 48611"/>
            </a:avLst>
          </a:prstGeom>
          <a:solidFill>
            <a:srgbClr val="065A82"/>
          </a:solidFill>
          <a:ln/>
        </p:spPr>
      </p:sp>
      <p:sp>
        <p:nvSpPr>
          <p:cNvPr id="11" name="Shape 9"/>
          <p:cNvSpPr/>
          <p:nvPr/>
        </p:nvSpPr>
        <p:spPr>
          <a:xfrm>
            <a:off x="6236208" y="1956816"/>
            <a:ext cx="402336" cy="402336"/>
          </a:xfrm>
          <a:prstGeom prst="ellipse">
            <a:avLst/>
          </a:prstGeom>
          <a:solidFill>
            <a:srgbClr val="FFFFFF"/>
          </a:solidFill>
          <a:ln/>
        </p:spPr>
      </p:sp>
      <p:sp>
        <p:nvSpPr>
          <p:cNvPr id="12" name="Text 10"/>
          <p:cNvSpPr/>
          <p:nvPr/>
        </p:nvSpPr>
        <p:spPr>
          <a:xfrm>
            <a:off x="6236208" y="1956816"/>
            <a:ext cx="402336" cy="402336"/>
          </a:xfrm>
          <a:prstGeom prst="rect">
            <a:avLst/>
          </a:prstGeom>
          <a:noFill/>
          <a:ln/>
        </p:spPr>
        <p:txBody>
          <a:bodyPr wrap="square" rtlCol="0" anchor="ctr"/>
          <a:lstStyle/>
          <a:p>
            <a:pPr marL="0" indent="0" algn="ctr">
              <a:buNone/>
            </a:pPr>
            <a:r>
              <a:rPr lang="en-US" sz="1400" b="1" dirty="0">
                <a:solidFill>
                  <a:srgbClr val="065A82"/>
                </a:solidFill>
                <a:latin typeface="Cambria" pitchFamily="34" charset="0"/>
                <a:ea typeface="Cambria" pitchFamily="34" charset="-122"/>
                <a:cs typeface="Cambria" pitchFamily="34" charset="-120"/>
              </a:rPr>
              <a:t>1</a:t>
            </a:r>
            <a:endParaRPr lang="en-US" sz="1400" dirty="0"/>
          </a:p>
        </p:txBody>
      </p:sp>
      <p:sp>
        <p:nvSpPr>
          <p:cNvPr id="13" name="Text 11"/>
          <p:cNvSpPr/>
          <p:nvPr/>
        </p:nvSpPr>
        <p:spPr>
          <a:xfrm>
            <a:off x="6766560" y="1828800"/>
            <a:ext cx="4572000" cy="65836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Phone uploads file</a:t>
            </a:r>
            <a:endParaRPr lang="en-US" sz="1300" dirty="0"/>
          </a:p>
        </p:txBody>
      </p:sp>
      <p:sp>
        <p:nvSpPr>
          <p:cNvPr id="14" name="Shape 12"/>
          <p:cNvSpPr/>
          <p:nvPr/>
        </p:nvSpPr>
        <p:spPr>
          <a:xfrm>
            <a:off x="8714232" y="2496312"/>
            <a:ext cx="219456" cy="146304"/>
          </a:xfrm>
          <a:prstGeom prst="downArrow">
            <a:avLst/>
          </a:prstGeom>
          <a:solidFill>
            <a:srgbClr val="5B6B77"/>
          </a:solidFill>
          <a:ln/>
        </p:spPr>
      </p:sp>
      <p:sp>
        <p:nvSpPr>
          <p:cNvPr id="15" name="Shape 13"/>
          <p:cNvSpPr/>
          <p:nvPr/>
        </p:nvSpPr>
        <p:spPr>
          <a:xfrm>
            <a:off x="6126480" y="2651760"/>
            <a:ext cx="5394960" cy="658368"/>
          </a:xfrm>
          <a:prstGeom prst="roundRect">
            <a:avLst>
              <a:gd name="adj" fmla="val 48611"/>
            </a:avLst>
          </a:prstGeom>
          <a:solidFill>
            <a:srgbClr val="1C7293"/>
          </a:solidFill>
          <a:ln/>
        </p:spPr>
      </p:sp>
      <p:sp>
        <p:nvSpPr>
          <p:cNvPr id="16" name="Shape 14"/>
          <p:cNvSpPr/>
          <p:nvPr/>
        </p:nvSpPr>
        <p:spPr>
          <a:xfrm>
            <a:off x="6236208" y="2779776"/>
            <a:ext cx="402336" cy="402336"/>
          </a:xfrm>
          <a:prstGeom prst="ellipse">
            <a:avLst/>
          </a:prstGeom>
          <a:solidFill>
            <a:srgbClr val="FFFFFF"/>
          </a:solidFill>
          <a:ln/>
        </p:spPr>
      </p:sp>
      <p:sp>
        <p:nvSpPr>
          <p:cNvPr id="17" name="Text 15"/>
          <p:cNvSpPr/>
          <p:nvPr/>
        </p:nvSpPr>
        <p:spPr>
          <a:xfrm>
            <a:off x="6236208" y="2779776"/>
            <a:ext cx="402336" cy="402336"/>
          </a:xfrm>
          <a:prstGeom prst="rect">
            <a:avLst/>
          </a:prstGeom>
          <a:noFill/>
          <a:ln/>
        </p:spPr>
        <p:txBody>
          <a:bodyPr wrap="square" rtlCol="0" anchor="ctr"/>
          <a:lstStyle/>
          <a:p>
            <a:pPr marL="0" indent="0" algn="ctr">
              <a:buNone/>
            </a:pPr>
            <a:r>
              <a:rPr lang="en-US" sz="1400" b="1" dirty="0">
                <a:solidFill>
                  <a:srgbClr val="1C7293"/>
                </a:solidFill>
                <a:latin typeface="Cambria" pitchFamily="34" charset="0"/>
                <a:ea typeface="Cambria" pitchFamily="34" charset="-122"/>
                <a:cs typeface="Cambria" pitchFamily="34" charset="-120"/>
              </a:rPr>
              <a:t>2</a:t>
            </a:r>
            <a:endParaRPr lang="en-US" sz="1400" dirty="0"/>
          </a:p>
        </p:txBody>
      </p:sp>
      <p:sp>
        <p:nvSpPr>
          <p:cNvPr id="18" name="Text 16"/>
          <p:cNvSpPr/>
          <p:nvPr/>
        </p:nvSpPr>
        <p:spPr>
          <a:xfrm>
            <a:off x="6766560" y="2651760"/>
            <a:ext cx="4572000" cy="65836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Client authenticates &amp; chunks data</a:t>
            </a:r>
            <a:endParaRPr lang="en-US" sz="1300" dirty="0"/>
          </a:p>
        </p:txBody>
      </p:sp>
      <p:sp>
        <p:nvSpPr>
          <p:cNvPr id="19" name="Shape 17"/>
          <p:cNvSpPr/>
          <p:nvPr/>
        </p:nvSpPr>
        <p:spPr>
          <a:xfrm>
            <a:off x="8714232" y="3319272"/>
            <a:ext cx="219456" cy="146304"/>
          </a:xfrm>
          <a:prstGeom prst="downArrow">
            <a:avLst/>
          </a:prstGeom>
          <a:solidFill>
            <a:srgbClr val="5B6B77"/>
          </a:solidFill>
          <a:ln/>
        </p:spPr>
      </p:sp>
      <p:sp>
        <p:nvSpPr>
          <p:cNvPr id="20" name="Shape 18"/>
          <p:cNvSpPr/>
          <p:nvPr/>
        </p:nvSpPr>
        <p:spPr>
          <a:xfrm>
            <a:off x="6126480" y="3474720"/>
            <a:ext cx="5394960" cy="658368"/>
          </a:xfrm>
          <a:prstGeom prst="roundRect">
            <a:avLst>
              <a:gd name="adj" fmla="val 48611"/>
            </a:avLst>
          </a:prstGeom>
          <a:solidFill>
            <a:srgbClr val="065A82"/>
          </a:solidFill>
          <a:ln/>
        </p:spPr>
      </p:sp>
      <p:sp>
        <p:nvSpPr>
          <p:cNvPr id="21" name="Shape 19"/>
          <p:cNvSpPr/>
          <p:nvPr/>
        </p:nvSpPr>
        <p:spPr>
          <a:xfrm>
            <a:off x="6236208" y="3602736"/>
            <a:ext cx="402336" cy="402336"/>
          </a:xfrm>
          <a:prstGeom prst="ellipse">
            <a:avLst/>
          </a:prstGeom>
          <a:solidFill>
            <a:srgbClr val="FFFFFF"/>
          </a:solidFill>
          <a:ln/>
        </p:spPr>
      </p:sp>
      <p:sp>
        <p:nvSpPr>
          <p:cNvPr id="22" name="Text 20"/>
          <p:cNvSpPr/>
          <p:nvPr/>
        </p:nvSpPr>
        <p:spPr>
          <a:xfrm>
            <a:off x="6236208" y="3602736"/>
            <a:ext cx="402336" cy="402336"/>
          </a:xfrm>
          <a:prstGeom prst="rect">
            <a:avLst/>
          </a:prstGeom>
          <a:noFill/>
          <a:ln/>
        </p:spPr>
        <p:txBody>
          <a:bodyPr wrap="square" rtlCol="0" anchor="ctr"/>
          <a:lstStyle/>
          <a:p>
            <a:pPr marL="0" indent="0" algn="ctr">
              <a:buNone/>
            </a:pPr>
            <a:r>
              <a:rPr lang="en-US" sz="1400" b="1" dirty="0">
                <a:solidFill>
                  <a:srgbClr val="065A82"/>
                </a:solidFill>
                <a:latin typeface="Cambria" pitchFamily="34" charset="0"/>
                <a:ea typeface="Cambria" pitchFamily="34" charset="-122"/>
                <a:cs typeface="Cambria" pitchFamily="34" charset="-120"/>
              </a:rPr>
              <a:t>3</a:t>
            </a:r>
            <a:endParaRPr lang="en-US" sz="1400" dirty="0"/>
          </a:p>
        </p:txBody>
      </p:sp>
      <p:sp>
        <p:nvSpPr>
          <p:cNvPr id="23" name="Text 21"/>
          <p:cNvSpPr/>
          <p:nvPr/>
        </p:nvSpPr>
        <p:spPr>
          <a:xfrm>
            <a:off x="6766560" y="3474720"/>
            <a:ext cx="4572000" cy="65836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replicated across data centers</a:t>
            </a:r>
            <a:endParaRPr lang="en-US" sz="1300" dirty="0"/>
          </a:p>
        </p:txBody>
      </p:sp>
      <p:sp>
        <p:nvSpPr>
          <p:cNvPr id="24" name="Shape 22"/>
          <p:cNvSpPr/>
          <p:nvPr/>
        </p:nvSpPr>
        <p:spPr>
          <a:xfrm>
            <a:off x="8714232" y="4142232"/>
            <a:ext cx="219456" cy="146304"/>
          </a:xfrm>
          <a:prstGeom prst="downArrow">
            <a:avLst/>
          </a:prstGeom>
          <a:solidFill>
            <a:srgbClr val="5B6B77"/>
          </a:solidFill>
          <a:ln/>
        </p:spPr>
      </p:sp>
      <p:sp>
        <p:nvSpPr>
          <p:cNvPr id="25" name="Shape 23"/>
          <p:cNvSpPr/>
          <p:nvPr/>
        </p:nvSpPr>
        <p:spPr>
          <a:xfrm>
            <a:off x="6126480" y="4297680"/>
            <a:ext cx="5394960" cy="658368"/>
          </a:xfrm>
          <a:prstGeom prst="roundRect">
            <a:avLst>
              <a:gd name="adj" fmla="val 48611"/>
            </a:avLst>
          </a:prstGeom>
          <a:solidFill>
            <a:srgbClr val="1C7293"/>
          </a:solidFill>
          <a:ln/>
        </p:spPr>
      </p:sp>
      <p:sp>
        <p:nvSpPr>
          <p:cNvPr id="26" name="Shape 24"/>
          <p:cNvSpPr/>
          <p:nvPr/>
        </p:nvSpPr>
        <p:spPr>
          <a:xfrm>
            <a:off x="6236208" y="4425696"/>
            <a:ext cx="402336" cy="402336"/>
          </a:xfrm>
          <a:prstGeom prst="ellipse">
            <a:avLst/>
          </a:prstGeom>
          <a:solidFill>
            <a:srgbClr val="FFFFFF"/>
          </a:solidFill>
          <a:ln/>
        </p:spPr>
      </p:sp>
      <p:sp>
        <p:nvSpPr>
          <p:cNvPr id="27" name="Text 25"/>
          <p:cNvSpPr/>
          <p:nvPr/>
        </p:nvSpPr>
        <p:spPr>
          <a:xfrm>
            <a:off x="6236208" y="4425696"/>
            <a:ext cx="402336" cy="402336"/>
          </a:xfrm>
          <a:prstGeom prst="rect">
            <a:avLst/>
          </a:prstGeom>
          <a:noFill/>
          <a:ln/>
        </p:spPr>
        <p:txBody>
          <a:bodyPr wrap="square" rtlCol="0" anchor="ctr"/>
          <a:lstStyle/>
          <a:p>
            <a:pPr marL="0" indent="0" algn="ctr">
              <a:buNone/>
            </a:pPr>
            <a:r>
              <a:rPr lang="en-US" sz="1400" b="1" dirty="0">
                <a:solidFill>
                  <a:srgbClr val="1C7293"/>
                </a:solidFill>
                <a:latin typeface="Cambria" pitchFamily="34" charset="0"/>
                <a:ea typeface="Cambria" pitchFamily="34" charset="-122"/>
                <a:cs typeface="Cambria" pitchFamily="34" charset="-120"/>
              </a:rPr>
              <a:t>4</a:t>
            </a:r>
            <a:endParaRPr lang="en-US" sz="1400" dirty="0"/>
          </a:p>
        </p:txBody>
      </p:sp>
      <p:sp>
        <p:nvSpPr>
          <p:cNvPr id="28" name="Text 26"/>
          <p:cNvSpPr/>
          <p:nvPr/>
        </p:nvSpPr>
        <p:spPr>
          <a:xfrm>
            <a:off x="6766560" y="4297680"/>
            <a:ext cx="4572000" cy="65836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Metadata indexed for instant access</a:t>
            </a:r>
            <a:endParaRPr lang="en-US" sz="1300" dirty="0"/>
          </a:p>
        </p:txBody>
      </p:sp>
      <p:sp>
        <p:nvSpPr>
          <p:cNvPr id="29" name="Shape 27"/>
          <p:cNvSpPr/>
          <p:nvPr/>
        </p:nvSpPr>
        <p:spPr>
          <a:xfrm>
            <a:off x="8714232" y="4965192"/>
            <a:ext cx="219456" cy="146304"/>
          </a:xfrm>
          <a:prstGeom prst="downArrow">
            <a:avLst/>
          </a:prstGeom>
          <a:solidFill>
            <a:srgbClr val="5B6B77"/>
          </a:solidFill>
          <a:ln/>
        </p:spPr>
      </p:sp>
      <p:sp>
        <p:nvSpPr>
          <p:cNvPr id="30" name="Shape 28"/>
          <p:cNvSpPr/>
          <p:nvPr/>
        </p:nvSpPr>
        <p:spPr>
          <a:xfrm>
            <a:off x="6126480" y="5120640"/>
            <a:ext cx="5394960" cy="658368"/>
          </a:xfrm>
          <a:prstGeom prst="roundRect">
            <a:avLst>
              <a:gd name="adj" fmla="val 48611"/>
            </a:avLst>
          </a:prstGeom>
          <a:solidFill>
            <a:srgbClr val="065A82"/>
          </a:solidFill>
          <a:ln/>
        </p:spPr>
      </p:sp>
      <p:sp>
        <p:nvSpPr>
          <p:cNvPr id="31" name="Shape 29"/>
          <p:cNvSpPr/>
          <p:nvPr/>
        </p:nvSpPr>
        <p:spPr>
          <a:xfrm>
            <a:off x="6236208" y="5248656"/>
            <a:ext cx="402336" cy="402336"/>
          </a:xfrm>
          <a:prstGeom prst="ellipse">
            <a:avLst/>
          </a:prstGeom>
          <a:solidFill>
            <a:srgbClr val="FFFFFF"/>
          </a:solidFill>
          <a:ln/>
        </p:spPr>
      </p:sp>
      <p:sp>
        <p:nvSpPr>
          <p:cNvPr id="32" name="Text 30"/>
          <p:cNvSpPr/>
          <p:nvPr/>
        </p:nvSpPr>
        <p:spPr>
          <a:xfrm>
            <a:off x="6236208" y="5248656"/>
            <a:ext cx="402336" cy="402336"/>
          </a:xfrm>
          <a:prstGeom prst="rect">
            <a:avLst/>
          </a:prstGeom>
          <a:noFill/>
          <a:ln/>
        </p:spPr>
        <p:txBody>
          <a:bodyPr wrap="square" rtlCol="0" anchor="ctr"/>
          <a:lstStyle/>
          <a:p>
            <a:pPr marL="0" indent="0" algn="ctr">
              <a:buNone/>
            </a:pPr>
            <a:r>
              <a:rPr lang="en-US" sz="1400" b="1" dirty="0">
                <a:solidFill>
                  <a:srgbClr val="065A82"/>
                </a:solidFill>
                <a:latin typeface="Cambria" pitchFamily="34" charset="0"/>
                <a:ea typeface="Cambria" pitchFamily="34" charset="-122"/>
                <a:cs typeface="Cambria" pitchFamily="34" charset="-120"/>
              </a:rPr>
              <a:t>5</a:t>
            </a:r>
            <a:endParaRPr lang="en-US" sz="1400" dirty="0"/>
          </a:p>
        </p:txBody>
      </p:sp>
      <p:sp>
        <p:nvSpPr>
          <p:cNvPr id="33" name="Text 31"/>
          <p:cNvSpPr/>
          <p:nvPr/>
        </p:nvSpPr>
        <p:spPr>
          <a:xfrm>
            <a:off x="6766560" y="5120640"/>
            <a:ext cx="4572000" cy="65836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Synced file available on all devices</a:t>
            </a:r>
            <a:endParaRPr lang="en-US" sz="1300" dirty="0"/>
          </a:p>
        </p:txBody>
      </p:sp>
      <p:sp>
        <p:nvSpPr>
          <p:cNvPr id="34" name="Text 32"/>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Understanding Cloud Storage Mechanisms</a:t>
            </a:r>
            <a:endParaRPr lang="en-US" sz="1000" dirty="0"/>
          </a:p>
        </p:txBody>
      </p:sp>
      <p:sp>
        <p:nvSpPr>
          <p:cNvPr id="35" name="Text 3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961120" y="-1371600"/>
            <a:ext cx="4572000" cy="4572000"/>
          </a:xfrm>
          <a:prstGeom prst="ellipse">
            <a:avLst/>
          </a:prstGeom>
          <a:solidFill>
            <a:srgbClr val="1C7293">
              <a:alpha val="22000"/>
            </a:srgbClr>
          </a:solidFill>
          <a:ln/>
        </p:spPr>
      </p:sp>
      <p:sp>
        <p:nvSpPr>
          <p:cNvPr id="3" name="Shape 1"/>
          <p:cNvSpPr/>
          <p:nvPr/>
        </p:nvSpPr>
        <p:spPr>
          <a:xfrm>
            <a:off x="-1463040" y="4572000"/>
            <a:ext cx="3657600" cy="3657600"/>
          </a:xfrm>
          <a:prstGeom prst="ellipse">
            <a:avLst/>
          </a:prstGeom>
          <a:solidFill>
            <a:srgbClr val="065A82">
              <a:alpha val="45000"/>
            </a:srgbClr>
          </a:solidFill>
          <a:ln/>
        </p:spPr>
      </p:sp>
      <p:sp>
        <p:nvSpPr>
          <p:cNvPr id="6" name="Text 4"/>
          <p:cNvSpPr/>
          <p:nvPr/>
        </p:nvSpPr>
        <p:spPr>
          <a:xfrm>
            <a:off x="1483042" y="1005840"/>
            <a:ext cx="8229600" cy="6400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CONCLUSION</a:t>
            </a:r>
          </a:p>
          <a:p>
            <a:pPr marL="0" indent="0">
              <a:buNone/>
            </a:pPr>
            <a:endParaRPr lang="en-US" sz="3000" dirty="0"/>
          </a:p>
        </p:txBody>
      </p:sp>
      <p:sp>
        <p:nvSpPr>
          <p:cNvPr id="8" name="Text 6"/>
          <p:cNvSpPr/>
          <p:nvPr/>
        </p:nvSpPr>
        <p:spPr>
          <a:xfrm>
            <a:off x="774382" y="1861945"/>
            <a:ext cx="9875520" cy="502920"/>
          </a:xfrm>
          <a:prstGeom prst="rect">
            <a:avLst/>
          </a:prstGeom>
          <a:noFill/>
          <a:ln/>
        </p:spPr>
        <p:txBody>
          <a:bodyPr wrap="square" rtlCol="0" anchor="ctr"/>
          <a:lstStyle/>
          <a:p>
            <a:pPr marL="342900" indent="-342900">
              <a:lnSpc>
                <a:spcPct val="120000"/>
              </a:lnSpc>
              <a:buFont typeface="Arial" panose="020B0604020202020204" pitchFamily="34" charset="0"/>
              <a:buChar char="•"/>
            </a:pPr>
            <a:endParaRPr lang="en-US" sz="2000" dirty="0">
              <a:solidFill>
                <a:srgbClr val="EAF4FA"/>
              </a:solidFill>
              <a:latin typeface="Times New Roman" panose="02020603050405020304" pitchFamily="18" charset="0"/>
              <a:ea typeface="Calibri" pitchFamily="34" charset="-122"/>
              <a:cs typeface="Times New Roman" panose="02020603050405020304" pitchFamily="18" charset="0"/>
            </a:endParaRPr>
          </a:p>
          <a:p>
            <a:pPr marL="342900" indent="-342900">
              <a:lnSpc>
                <a:spcPct val="120000"/>
              </a:lnSpc>
              <a:buFont typeface="Arial" panose="020B0604020202020204" pitchFamily="34" charset="0"/>
              <a:buChar char="•"/>
            </a:pPr>
            <a:r>
              <a:rPr lang="en-US" sz="2000" b="1" dirty="0">
                <a:solidFill>
                  <a:srgbClr val="EAF4FA"/>
                </a:solidFill>
                <a:latin typeface="Times New Roman" panose="02020603050405020304" pitchFamily="18" charset="0"/>
                <a:ea typeface="Calibri" pitchFamily="34" charset="-122"/>
                <a:cs typeface="Times New Roman" panose="02020603050405020304" pitchFamily="18" charset="0"/>
              </a:rPr>
              <a:t>Cloud storage works through three cooperating layers: client access, distributed storage management, and secure retrieval.</a:t>
            </a:r>
          </a:p>
          <a:p>
            <a:pPr marL="342900" indent="-342900">
              <a:lnSpc>
                <a:spcPct val="12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802957" y="3142108"/>
            <a:ext cx="9875520" cy="502920"/>
          </a:xfrm>
          <a:prstGeom prst="rect">
            <a:avLst/>
          </a:prstGeom>
          <a:noFill/>
          <a:ln/>
        </p:spPr>
        <p:txBody>
          <a:bodyPr wrap="square" rtlCol="0" anchor="ctr"/>
          <a:lstStyle/>
          <a:p>
            <a:pPr marL="342900" indent="-342900" algn="just">
              <a:lnSpc>
                <a:spcPct val="120000"/>
              </a:lnSpc>
              <a:buFont typeface="Arial" panose="020B0604020202020204" pitchFamily="34" charset="0"/>
              <a:buChar char="•"/>
            </a:pPr>
            <a:r>
              <a:rPr lang="en-US" sz="2000" b="1" dirty="0">
                <a:solidFill>
                  <a:srgbClr val="EAF4FA"/>
                </a:solidFill>
                <a:latin typeface="Times New Roman" panose="02020603050405020304" pitchFamily="18" charset="0"/>
                <a:ea typeface="Calibri" pitchFamily="34" charset="-122"/>
                <a:cs typeface="Times New Roman" panose="02020603050405020304" pitchFamily="18" charset="0"/>
              </a:rPr>
              <a:t>Chunking, replication, and metadata indexing make data resilient, scalable, and fast to retrieve.</a:t>
            </a:r>
          </a:p>
          <a:p>
            <a:pPr marL="342900" indent="-342900" algn="just">
              <a:lnSpc>
                <a:spcPct val="120000"/>
              </a:lnSpc>
              <a:buFont typeface="Arial" panose="020B0604020202020204" pitchFamily="34" charset="0"/>
              <a:buChar char="•"/>
            </a:pPr>
            <a:endParaRPr lang="en-US" sz="2000" b="1" dirty="0">
              <a:solidFill>
                <a:srgbClr val="EAF4FA"/>
              </a:solidFill>
              <a:latin typeface="Times New Roman" panose="02020603050405020304" pitchFamily="18" charset="0"/>
              <a:ea typeface="Calibri" pitchFamily="34" charset="-122"/>
              <a:cs typeface="Times New Roman" panose="02020603050405020304" pitchFamily="18" charset="0"/>
            </a:endParaRPr>
          </a:p>
          <a:p>
            <a:pPr marL="342900" indent="-342900" algn="just">
              <a:lnSpc>
                <a:spcPct val="12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774382" y="3799332"/>
            <a:ext cx="9875520" cy="502920"/>
          </a:xfrm>
          <a:prstGeom prst="rect">
            <a:avLst/>
          </a:prstGeom>
          <a:noFill/>
          <a:ln/>
        </p:spPr>
        <p:txBody>
          <a:bodyPr wrap="square" rtlCol="0" anchor="ctr"/>
          <a:lstStyle/>
          <a:p>
            <a:pPr marL="342900" indent="-342900" algn="just">
              <a:lnSpc>
                <a:spcPct val="120000"/>
              </a:lnSpc>
              <a:buFont typeface="Arial" panose="020B0604020202020204" pitchFamily="34" charset="0"/>
              <a:buChar char="•"/>
            </a:pPr>
            <a:r>
              <a:rPr lang="en-US" sz="2000" b="1" dirty="0">
                <a:solidFill>
                  <a:srgbClr val="EAF4FA"/>
                </a:solidFill>
                <a:latin typeface="Times New Roman" panose="02020603050405020304" pitchFamily="18" charset="0"/>
                <a:ea typeface="Calibri" pitchFamily="34" charset="-122"/>
                <a:cs typeface="Times New Roman" panose="02020603050405020304" pitchFamily="18" charset="0"/>
              </a:rPr>
              <a:t>Encryption and access control keep data secure without adding friction for the end user.</a:t>
            </a:r>
            <a:endParaRPr lang="en-US" sz="2000" b="1" dirty="0">
              <a:latin typeface="Times New Roman" panose="02020603050405020304" pitchFamily="18" charset="0"/>
              <a:cs typeface="Times New Roman" panose="02020603050405020304" pitchFamily="18" charset="0"/>
            </a:endParaRPr>
          </a:p>
        </p:txBody>
      </p:sp>
      <p:sp>
        <p:nvSpPr>
          <p:cNvPr id="14" name="Text 12"/>
          <p:cNvSpPr/>
          <p:nvPr/>
        </p:nvSpPr>
        <p:spPr>
          <a:xfrm>
            <a:off x="802957" y="4804028"/>
            <a:ext cx="9875520" cy="502920"/>
          </a:xfrm>
          <a:prstGeom prst="rect">
            <a:avLst/>
          </a:prstGeom>
          <a:noFill/>
          <a:ln/>
        </p:spPr>
        <p:txBody>
          <a:bodyPr wrap="square" rtlCol="0" anchor="ctr"/>
          <a:lstStyle/>
          <a:p>
            <a:pPr marL="342900" indent="-342900" algn="just">
              <a:lnSpc>
                <a:spcPct val="120000"/>
              </a:lnSpc>
              <a:buFont typeface="Arial" panose="020B0604020202020204" pitchFamily="34" charset="0"/>
              <a:buChar char="•"/>
            </a:pPr>
            <a:r>
              <a:rPr lang="en-US" sz="2000" b="1" dirty="0">
                <a:solidFill>
                  <a:srgbClr val="EAF4FA"/>
                </a:solidFill>
                <a:latin typeface="Times New Roman" panose="02020603050405020304" pitchFamily="18" charset="0"/>
                <a:ea typeface="Calibri" pitchFamily="34" charset="-122"/>
                <a:cs typeface="Times New Roman" panose="02020603050405020304" pitchFamily="18" charset="0"/>
              </a:rPr>
              <a:t>The same mechanism underpins everyday tools (Drive, Dropbox) and enterprise infrastructure (AWS S3, HDFS) alike.</a:t>
            </a: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2377440" cy="365760"/>
          </a:xfrm>
          <a:prstGeom prst="roundRect">
            <a:avLst>
              <a:gd name="adj" fmla="val 20000"/>
            </a:avLst>
          </a:prstGeom>
          <a:solidFill>
            <a:srgbClr val="1C7293"/>
          </a:solidFill>
          <a:ln/>
        </p:spPr>
      </p:sp>
      <p:sp>
        <p:nvSpPr>
          <p:cNvPr id="3" name="Text 1"/>
          <p:cNvSpPr/>
          <p:nvPr/>
        </p:nvSpPr>
        <p:spPr>
          <a:xfrm>
            <a:off x="640080" y="502920"/>
            <a:ext cx="2377440" cy="365760"/>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REFERENCES</a:t>
            </a:r>
            <a:endParaRPr lang="en-US" sz="1100" dirty="0"/>
          </a:p>
        </p:txBody>
      </p:sp>
      <p:sp>
        <p:nvSpPr>
          <p:cNvPr id="4" name="Text 2"/>
          <p:cNvSpPr/>
          <p:nvPr/>
        </p:nvSpPr>
        <p:spPr>
          <a:xfrm>
            <a:off x="640080" y="960120"/>
            <a:ext cx="822960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References</a:t>
            </a:r>
            <a:endParaRPr lang="en-US" sz="2800" dirty="0"/>
          </a:p>
        </p:txBody>
      </p:sp>
      <p:sp>
        <p:nvSpPr>
          <p:cNvPr id="5" name="Text 3"/>
          <p:cNvSpPr/>
          <p:nvPr/>
        </p:nvSpPr>
        <p:spPr>
          <a:xfrm>
            <a:off x="640080" y="1828800"/>
            <a:ext cx="365760" cy="54864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51560" y="1828800"/>
            <a:ext cx="10332720" cy="548640"/>
          </a:xfrm>
          <a:prstGeom prst="rect">
            <a:avLst/>
          </a:prstGeom>
          <a:noFill/>
          <a:ln/>
        </p:spPr>
        <p:txBody>
          <a:bodyPr wrap="square"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Anonymous. (2025). AI-Driven Hybrid Architecture for Secure, Reconstruction-Resistant Multi-Cloud Storage. Future Internet, 18(2), 70. https://doi.org/10.3390/fi18020070</a:t>
            </a:r>
            <a:endParaRPr lang="en-US" sz="1150" dirty="0"/>
          </a:p>
        </p:txBody>
      </p:sp>
      <p:sp>
        <p:nvSpPr>
          <p:cNvPr id="7" name="Text 5"/>
          <p:cNvSpPr/>
          <p:nvPr/>
        </p:nvSpPr>
        <p:spPr>
          <a:xfrm>
            <a:off x="640080" y="2432304"/>
            <a:ext cx="365760" cy="54864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2.</a:t>
            </a:r>
            <a:endParaRPr lang="en-US" sz="1200" dirty="0"/>
          </a:p>
        </p:txBody>
      </p:sp>
      <p:sp>
        <p:nvSpPr>
          <p:cNvPr id="8" name="Text 6"/>
          <p:cNvSpPr/>
          <p:nvPr/>
        </p:nvSpPr>
        <p:spPr>
          <a:xfrm>
            <a:off x="1051560" y="2432304"/>
            <a:ext cx="10332720" cy="548640"/>
          </a:xfrm>
          <a:prstGeom prst="rect">
            <a:avLst/>
          </a:prstGeom>
          <a:noFill/>
          <a:ln/>
        </p:spPr>
        <p:txBody>
          <a:bodyPr wrap="square"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Kamble, T., Ghuge, M., Jain, R., &amp; Bodade, V. S. (2025). Secure data transmission in cloud computing using a cyber-security trust model with multi-risk protection scheme in smart IoT application. Cluster Computing, 28(2), 79.</a:t>
            </a:r>
            <a:endParaRPr lang="en-US" sz="1150" dirty="0"/>
          </a:p>
        </p:txBody>
      </p:sp>
      <p:sp>
        <p:nvSpPr>
          <p:cNvPr id="9" name="Text 7"/>
          <p:cNvSpPr/>
          <p:nvPr/>
        </p:nvSpPr>
        <p:spPr>
          <a:xfrm>
            <a:off x="640080" y="3035808"/>
            <a:ext cx="365760" cy="54864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3.</a:t>
            </a:r>
            <a:endParaRPr lang="en-US" sz="1200" dirty="0"/>
          </a:p>
        </p:txBody>
      </p:sp>
      <p:sp>
        <p:nvSpPr>
          <p:cNvPr id="10" name="Text 8"/>
          <p:cNvSpPr/>
          <p:nvPr/>
        </p:nvSpPr>
        <p:spPr>
          <a:xfrm>
            <a:off x="1051560" y="3035808"/>
            <a:ext cx="10332720" cy="548640"/>
          </a:xfrm>
          <a:prstGeom prst="rect">
            <a:avLst/>
          </a:prstGeom>
          <a:noFill/>
          <a:ln/>
        </p:spPr>
        <p:txBody>
          <a:bodyPr wrap="square"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Zhang, J., Yan, M., Tang, Z., He, Q., Bi, Y., Cai, Y., ... Yang, D. (2025). Blockchain empowerment in healthcare: A survey. IEEE Internet of Things Journal, 12(16), 32516–32537.</a:t>
            </a:r>
            <a:endParaRPr lang="en-US" sz="1150" dirty="0"/>
          </a:p>
        </p:txBody>
      </p:sp>
      <p:sp>
        <p:nvSpPr>
          <p:cNvPr id="11" name="Text 9"/>
          <p:cNvSpPr/>
          <p:nvPr/>
        </p:nvSpPr>
        <p:spPr>
          <a:xfrm>
            <a:off x="640080" y="3639312"/>
            <a:ext cx="365760" cy="54864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4.</a:t>
            </a:r>
            <a:endParaRPr lang="en-US" sz="1200" dirty="0"/>
          </a:p>
        </p:txBody>
      </p:sp>
      <p:sp>
        <p:nvSpPr>
          <p:cNvPr id="12" name="Text 10"/>
          <p:cNvSpPr/>
          <p:nvPr/>
        </p:nvSpPr>
        <p:spPr>
          <a:xfrm>
            <a:off x="1051560" y="3639312"/>
            <a:ext cx="10332720" cy="548640"/>
          </a:xfrm>
          <a:prstGeom prst="rect">
            <a:avLst/>
          </a:prstGeom>
          <a:noFill/>
          <a:ln/>
        </p:spPr>
        <p:txBody>
          <a:bodyPr wrap="square"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Author(s). (2025). Optimization analysis of scheduling strategy for cloud storage architecture based on hierarchical service mechanism. Cluster Computing (Springer). https://doi.org/10.1007/s10586-025-05520-9</a:t>
            </a:r>
            <a:endParaRPr lang="en-US" sz="1150" dirty="0"/>
          </a:p>
        </p:txBody>
      </p:sp>
      <p:sp>
        <p:nvSpPr>
          <p:cNvPr id="13" name="Text 11"/>
          <p:cNvSpPr/>
          <p:nvPr/>
        </p:nvSpPr>
        <p:spPr>
          <a:xfrm>
            <a:off x="640080" y="4242816"/>
            <a:ext cx="365760" cy="54864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5.</a:t>
            </a:r>
            <a:endParaRPr lang="en-US" sz="1200" dirty="0"/>
          </a:p>
        </p:txBody>
      </p:sp>
      <p:sp>
        <p:nvSpPr>
          <p:cNvPr id="14" name="Text 12"/>
          <p:cNvSpPr/>
          <p:nvPr/>
        </p:nvSpPr>
        <p:spPr>
          <a:xfrm>
            <a:off x="1051560" y="4242816"/>
            <a:ext cx="10332720" cy="548640"/>
          </a:xfrm>
          <a:prstGeom prst="rect">
            <a:avLst/>
          </a:prstGeom>
          <a:noFill/>
          <a:ln/>
        </p:spPr>
        <p:txBody>
          <a:bodyPr wrap="square"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Author(s). (2025). Toward smarter redundancy in Hadoop: A systematic review of replication and erasure coding approaches. (Systematic literature review on HDFS redundancy strategies).</a:t>
            </a:r>
            <a:endParaRPr lang="en-US" sz="1150" dirty="0"/>
          </a:p>
        </p:txBody>
      </p:sp>
      <p:sp>
        <p:nvSpPr>
          <p:cNvPr id="15" name="Text 13"/>
          <p:cNvSpPr/>
          <p:nvPr/>
        </p:nvSpPr>
        <p:spPr>
          <a:xfrm>
            <a:off x="640080" y="4846320"/>
            <a:ext cx="365760" cy="54864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6.</a:t>
            </a:r>
            <a:endParaRPr lang="en-US" sz="1200" dirty="0"/>
          </a:p>
        </p:txBody>
      </p:sp>
      <p:sp>
        <p:nvSpPr>
          <p:cNvPr id="16" name="Text 14"/>
          <p:cNvSpPr/>
          <p:nvPr/>
        </p:nvSpPr>
        <p:spPr>
          <a:xfrm>
            <a:off x="1051560" y="4846320"/>
            <a:ext cx="10332720" cy="548640"/>
          </a:xfrm>
          <a:prstGeom prst="rect">
            <a:avLst/>
          </a:prstGeom>
          <a:noFill/>
          <a:ln/>
        </p:spPr>
        <p:txBody>
          <a:bodyPr wrap="square" rtlCol="0" anchor="ctr"/>
          <a:lstStyle/>
          <a:p>
            <a:pPr marL="0" indent="0">
              <a:lnSpc>
                <a:spcPct val="115000"/>
              </a:lnSpc>
              <a:buNone/>
            </a:pPr>
            <a:r>
              <a:rPr lang="en-US" sz="1150" dirty="0">
                <a:solidFill>
                  <a:srgbClr val="333333"/>
                </a:solidFill>
                <a:latin typeface="Calibri" pitchFamily="34" charset="0"/>
                <a:ea typeface="Calibri" pitchFamily="34" charset="-122"/>
                <a:cs typeface="Calibri" pitchFamily="34" charset="-120"/>
              </a:rPr>
              <a:t>Dhanakshirur, G., Shivam, P., Pritko, S., Reitz, B., Nallasivam, S. A., &amp; Kallannavar, M. C. S. (2024). Cloud computing I/O thread performance optimization with VirtIO and queue size tuning. IEEE CONECCT 2024, 1–5.</a:t>
            </a:r>
            <a:endParaRPr lang="en-US" sz="1150" dirty="0"/>
          </a:p>
        </p:txBody>
      </p:sp>
      <p:sp>
        <p:nvSpPr>
          <p:cNvPr id="17" name="Text 15"/>
          <p:cNvSpPr/>
          <p:nvPr/>
        </p:nvSpPr>
        <p:spPr>
          <a:xfrm>
            <a:off x="640080" y="5586984"/>
            <a:ext cx="10789920" cy="365760"/>
          </a:xfrm>
          <a:prstGeom prst="rect">
            <a:avLst/>
          </a:prstGeom>
          <a:noFill/>
          <a:ln/>
        </p:spPr>
        <p:txBody>
          <a:bodyPr wrap="square" rtlCol="0" anchor="ctr"/>
          <a:lstStyle/>
          <a:p>
            <a:pPr marL="0" indent="0">
              <a:buNone/>
            </a:pPr>
            <a:r>
              <a:rPr lang="en-US" sz="1050" i="1" dirty="0">
                <a:solidFill>
                  <a:srgbClr val="5B6B77"/>
                </a:solidFill>
                <a:latin typeface="Calibri" pitchFamily="34" charset="0"/>
                <a:ea typeface="Calibri" pitchFamily="34" charset="-122"/>
                <a:cs typeface="Calibri" pitchFamily="34" charset="-120"/>
              </a:rPr>
              <a:t>All sources retrieved via Google Scholar and associated publisher indexes (ACM, Springer, IEEE, MDPI).</a:t>
            </a:r>
            <a:endParaRPr lang="en-US" sz="1050" dirty="0"/>
          </a:p>
        </p:txBody>
      </p:sp>
      <p:sp>
        <p:nvSpPr>
          <p:cNvPr id="18" name="Text 16"/>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Understanding Cloud Storage Mechanisms</a:t>
            </a:r>
            <a:endParaRPr lang="en-US" sz="1000" dirty="0"/>
          </a:p>
        </p:txBody>
      </p:sp>
      <p:sp>
        <p:nvSpPr>
          <p:cNvPr id="19" name="Text 1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919</Words>
  <Application>Microsoft Office PowerPoint</Application>
  <PresentationFormat>Widescreen</PresentationFormat>
  <Paragraphs>103</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Hasmitha S</cp:lastModifiedBy>
  <cp:revision>3</cp:revision>
  <dcterms:created xsi:type="dcterms:W3CDTF">2026-07-22T04:11:57Z</dcterms:created>
  <dcterms:modified xsi:type="dcterms:W3CDTF">2026-07-23T06:23:21Z</dcterms:modified>
</cp:coreProperties>
</file>